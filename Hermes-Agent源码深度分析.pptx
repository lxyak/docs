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127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00"/>
            <a:ext cx="7315200" cy="127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3B82F6"/>
                </a:solidFill>
                <a:latin typeface="Calibri"/>
              </a:defRPr>
            </a:pPr>
            <a:r>
              <a:t>Hermes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1F5F9"/>
                </a:solidFill>
                <a:latin typeface="微软雅黑"/>
              </a:defRPr>
            </a:pPr>
            <a:r>
              <a:t>源码深度分析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80"/>
              </a:lnSpc>
              <a:spcAft>
                <a:spcPts val="400"/>
              </a:spcAft>
              <a:defRPr sz="1600" b="0">
                <a:solidFill>
                  <a:srgbClr val="CBD5E1"/>
                </a:solidFill>
                <a:latin typeface="微软雅黑"/>
              </a:defRPr>
            </a:pPr>
            <a:r>
              <a:t>Nous Research 开源自我改进 AI Agent</a:t>
            </a:r>
          </a:p>
          <a:p>
            <a:pPr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94A3B8"/>
                </a:solidFill>
                <a:latin typeface="微软雅黑"/>
              </a:defRPr>
            </a:pPr>
            <a:r>
              <a:t>仓库: github.com/NousResearch/hermes-agent  |  技术栈: Python 3.11+  |  许可证: MIT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389120"/>
            <a:ext cx="201168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4074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1F5F9"/>
                </a:solidFill>
                <a:latin typeface="微软雅黑"/>
              </a:defRPr>
            </a:pPr>
            <a:r>
              <a:t>闭环学习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800600"/>
            <a:ext cx="2011680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8188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1F5F9"/>
                </a:solidFill>
                <a:latin typeface="微软雅黑"/>
              </a:defRPr>
            </a:pPr>
            <a:r>
              <a:t>200+ 模型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212080"/>
            <a:ext cx="201168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2303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1F5F9"/>
                </a:solidFill>
                <a:latin typeface="微软雅黑"/>
              </a:defRPr>
            </a:pPr>
            <a:r>
              <a:t>20+ 平台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623560"/>
            <a:ext cx="2011680" cy="320040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6418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1F5F9"/>
                </a:solidFill>
                <a:latin typeface="微软雅黑"/>
              </a:defRPr>
            </a:pPr>
            <a:r>
              <a:t>50+ 工具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217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分析日期: 2026-04-14  |  版本: main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微软雅黑"/>
              </a:defRPr>
            </a:pPr>
            <a:r>
              <a:t>项目定位与核心差异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BEAFE"/>
                </a:solidFill>
                <a:latin typeface="微软雅黑"/>
              </a:defRPr>
            </a:pPr>
            <a:r>
              <a:t>Hermes Agent vs 其他 AI Agent 框架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2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微软雅黑"/>
              </a:defRPr>
            </a:pPr>
            <a:r>
              <a:t>核心差异点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80"/>
              </a:lnSpc>
              <a:spcAft>
                <a:spcPts val="780"/>
              </a:spcAft>
              <a:defRPr sz="1300">
                <a:solidFill>
                  <a:srgbClr val="CBD5E1"/>
                </a:solidFill>
                <a:latin typeface="微软雅黑"/>
              </a:defRPr>
            </a:pPr>
            <a:r>
              <a:t>▸ 闭环学习 — 从经验中自动创建 Skills，使用中改进，跨会话搜索记忆</a:t>
            </a:r>
          </a:p>
          <a:p>
            <a:pPr>
              <a:lnSpc>
                <a:spcPts val="2080"/>
              </a:lnSpc>
              <a:spcAft>
                <a:spcPts val="780"/>
              </a:spcAft>
              <a:defRPr sz="1300">
                <a:solidFill>
                  <a:srgbClr val="CBD5E1"/>
                </a:solidFill>
                <a:latin typeface="微软雅黑"/>
              </a:defRPr>
            </a:pPr>
            <a:r>
              <a:t>▸ 多模型支持 — OpenRouter 200+ 模型、Anthropic、OpenAI、GLM、Kimi、MiniMax</a:t>
            </a:r>
          </a:p>
          <a:p>
            <a:pPr>
              <a:lnSpc>
                <a:spcPts val="2080"/>
              </a:lnSpc>
              <a:spcAft>
                <a:spcPts val="780"/>
              </a:spcAft>
              <a:defRPr sz="1300">
                <a:solidFill>
                  <a:srgbClr val="CBD5E1"/>
                </a:solidFill>
                <a:latin typeface="微软雅黑"/>
              </a:defRPr>
            </a:pPr>
            <a:r>
              <a:t>▸ 多通道网关 — Telegram、Discord、飞书、微信、钉钉、企业微信、Slack 等 20+</a:t>
            </a:r>
          </a:p>
          <a:p>
            <a:pPr>
              <a:lnSpc>
                <a:spcPts val="2080"/>
              </a:lnSpc>
              <a:spcAft>
                <a:spcPts val="780"/>
              </a:spcAft>
              <a:defRPr sz="1300">
                <a:solidFill>
                  <a:srgbClr val="CBD5E1"/>
                </a:solidFill>
                <a:latin typeface="微软雅黑"/>
              </a:defRPr>
            </a:pPr>
            <a:r>
              <a:t>▸ 多终端后端 — 本地、Docker、SSH、Modal(Serverless)、Daytona、Singularity</a:t>
            </a:r>
          </a:p>
          <a:p>
            <a:pPr>
              <a:lnSpc>
                <a:spcPts val="2080"/>
              </a:lnSpc>
              <a:spcAft>
                <a:spcPts val="780"/>
              </a:spcAft>
              <a:defRPr sz="1300">
                <a:solidFill>
                  <a:srgbClr val="CBD5E1"/>
                </a:solidFill>
                <a:latin typeface="微软雅黑"/>
              </a:defRPr>
            </a:pPr>
            <a:r>
              <a:t>▸ OpenClaw 兼容 — 内置 hermes claw migrate 迁移工具</a:t>
            </a:r>
          </a:p>
          <a:p>
            <a:pPr>
              <a:lnSpc>
                <a:spcPts val="2080"/>
              </a:lnSpc>
              <a:spcAft>
                <a:spcPts val="780"/>
              </a:spcAft>
              <a:defRPr sz="1300">
                <a:solidFill>
                  <a:srgbClr val="CBD5E1"/>
                </a:solidFill>
                <a:latin typeface="微软雅黑"/>
              </a:defRPr>
            </a:pPr>
            <a:r>
              <a:t>▸ RL 训练内置 — Atropos 环境，支持 SWE-bench、TerminalBench 评估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D3EE"/>
                </a:solidFill>
                <a:latin typeface="微软雅黑"/>
              </a:defRPr>
            </a:pPr>
            <a:r>
              <a:t>核心架构流程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828800"/>
            <a:ext cx="4114800" cy="4572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8745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1F5F9"/>
                </a:solidFill>
                <a:latin typeface="微软雅黑"/>
              </a:defRPr>
            </a:pPr>
            <a:r>
              <a:t>用户消息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2402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B82F6"/>
                </a:solidFill>
                <a:latin typeface="微软雅黑"/>
              </a:defRPr>
            </a:pPr>
            <a:r>
              <a:t>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2423160"/>
            <a:ext cx="4114800" cy="457200"/>
          </a:xfrm>
          <a:prstGeom prst="round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4688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1F5F9"/>
                </a:solidFill>
                <a:latin typeface="微软雅黑"/>
              </a:defRPr>
            </a:pPr>
            <a:r>
              <a:t>CLI / Gateway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8346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B82F6"/>
                </a:solidFill>
                <a:latin typeface="微软雅黑"/>
              </a:defRPr>
            </a:pPr>
            <a:r>
              <a:t>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3017520"/>
            <a:ext cx="4114800" cy="457200"/>
          </a:xfrm>
          <a:prstGeom prst="round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30632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1F5F9"/>
                </a:solidFill>
                <a:latin typeface="微软雅黑"/>
              </a:defRPr>
            </a:pPr>
            <a:r>
              <a:t>run_agent.py 主循环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4290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B82F6"/>
                </a:solidFill>
                <a:latin typeface="微软雅黑"/>
              </a:defRPr>
            </a:pPr>
            <a:r>
              <a:t>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3611880"/>
            <a:ext cx="4114800" cy="457200"/>
          </a:xfrm>
          <a:prstGeom prst="round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36576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1F5F9"/>
                </a:solidFill>
                <a:latin typeface="微软雅黑"/>
              </a:defRPr>
            </a:pPr>
            <a:r>
              <a:t>LLM API 调用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0233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B82F6"/>
                </a:solidFill>
                <a:latin typeface="微软雅黑"/>
              </a:defRPr>
            </a:pPr>
            <a:r>
              <a:t>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4206240"/>
            <a:ext cx="4114800" cy="457200"/>
          </a:xfrm>
          <a:prstGeom prst="round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42519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1F5F9"/>
                </a:solidFill>
                <a:latin typeface="微软雅黑"/>
              </a:defRPr>
            </a:pPr>
            <a:r>
              <a:t>工具执行 / Skill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6177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B82F6"/>
                </a:solidFill>
                <a:latin typeface="微软雅黑"/>
              </a:defRPr>
            </a:pPr>
            <a:r>
              <a:t>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0" y="4800600"/>
            <a:ext cx="411480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48463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1F5F9"/>
                </a:solidFill>
                <a:latin typeface="微软雅黑"/>
              </a:defRPr>
            </a:pPr>
            <a:r>
              <a:t>回复用户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3949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记忆/上下文 ←→ Skill/MCP 双向支撑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微软雅黑"/>
              </a:defRPr>
            </a:pPr>
            <a:r>
              <a:t>代码规模统计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BEAFE"/>
                </a:solidFill>
                <a:latin typeface="微软雅黑"/>
              </a:defRPr>
            </a:pPr>
            <a:r>
              <a:t>389K 行 Python · 15 个核心模块 · 50+ 内置工具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3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783080" cy="1097280"/>
          </a:xfrm>
          <a:prstGeom prst="round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16002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B82F6"/>
                </a:solidFill>
                <a:latin typeface="Calibri"/>
              </a:defRPr>
            </a:pPr>
            <a:r>
              <a:t>~389K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0312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微软雅黑"/>
              </a:defRPr>
            </a:pPr>
            <a:r>
              <a:t>Python 源码行数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77440" y="1371600"/>
            <a:ext cx="1783080" cy="1097280"/>
          </a:xfrm>
          <a:prstGeom prst="round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68880" y="1371600"/>
            <a:ext cx="16002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1554480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59E0B"/>
                </a:solidFill>
                <a:latin typeface="Calibri"/>
              </a:defRPr>
            </a:pPr>
            <a:r>
              <a:t>10,865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10312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微软雅黑"/>
              </a:defRPr>
            </a:pPr>
            <a:r>
              <a:t>run_agent.py 行数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371600"/>
            <a:ext cx="1783080" cy="1097280"/>
          </a:xfrm>
          <a:prstGeom prst="round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1371600"/>
            <a:ext cx="16002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1554480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  <a:latin typeface="Calibri"/>
              </a:defRPr>
            </a:pPr>
            <a:r>
              <a:t>50+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10312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微软雅黑"/>
              </a:defRPr>
            </a:pPr>
            <a:r>
              <a:t>内置工具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371600"/>
            <a:ext cx="1783080" cy="1097280"/>
          </a:xfrm>
          <a:prstGeom prst="round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1371600"/>
            <a:ext cx="1600200" cy="381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1554480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472B6"/>
                </a:solidFill>
                <a:latin typeface="Calibri"/>
              </a:defRPr>
            </a:pPr>
            <a:r>
              <a:t>20+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10312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微软雅黑"/>
              </a:defRPr>
            </a:pPr>
            <a:r>
              <a:t>平台适配器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1371600"/>
            <a:ext cx="1783080" cy="1097280"/>
          </a:xfrm>
          <a:prstGeom prst="round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1371600"/>
            <a:ext cx="160020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54480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2D3EE"/>
                </a:solidFill>
                <a:latin typeface="Calibri"/>
              </a:defRPr>
            </a:pPr>
            <a:r>
              <a:t>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10312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微软雅黑"/>
              </a:defRPr>
            </a:pPr>
            <a:r>
              <a:t>技能分类目录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0" y="1371600"/>
            <a:ext cx="1783080" cy="1097280"/>
          </a:xfrm>
          <a:prstGeom prst="round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149840" y="1371600"/>
            <a:ext cx="160020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49840" y="1554480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F4444"/>
                </a:solidFill>
                <a:latin typeface="Calibri"/>
              </a:defRPr>
            </a:pPr>
            <a:r>
              <a:t>3,950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40" y="210312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微软雅黑"/>
              </a:defRPr>
            </a:pPr>
            <a:r>
              <a:t>飞书适配器行数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2743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微软雅黑"/>
              </a:defRPr>
            </a:pPr>
            <a:r>
              <a:t>核心模块代码量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457200" y="3200400"/>
          <a:ext cx="6858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097280"/>
                <a:gridCol w="2560320"/>
              </a:tblGrid>
              <a:tr h="3556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1F5F9"/>
                          </a:solidFill>
                          <a:latin typeface="微软雅黑"/>
                        </a:defRPr>
                      </a:pPr>
                      <a:r>
                        <a:t>文件</a:t>
                      </a:r>
                    </a:p>
                  </a:txBody>
                  <a:tcPr anchor="ctr" marL="76200" marR="76200" marT="50800" marB="5080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1F5F9"/>
                          </a:solidFill>
                          <a:latin typeface="微软雅黑"/>
                        </a:defRPr>
                      </a:pPr>
                      <a:r>
                        <a:t>行数</a:t>
                      </a:r>
                    </a:p>
                  </a:txBody>
                  <a:tcPr anchor="ctr" marL="76200" marR="76200" marT="50800" marB="5080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1F5F9"/>
                          </a:solidFill>
                          <a:latin typeface="微软雅黑"/>
                        </a:defRPr>
                      </a:pPr>
                      <a:r>
                        <a:t>职责</a:t>
                      </a:r>
                    </a:p>
                  </a:txBody>
                  <a:tcPr anchor="ctr" marL="76200" marR="76200" marT="50800" marB="50800">
                    <a:solidFill>
                      <a:srgbClr val="3B82F6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run_agent.py</a:t>
                      </a:r>
                    </a:p>
                  </a:txBody>
                  <a:tcPr anchor="ctr" marL="76200" marR="76200" marT="50800" marB="508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10,865</a:t>
                      </a:r>
                    </a:p>
                  </a:txBody>
                  <a:tcPr anchor="ctr" marL="76200" marR="76200" marT="50800" marB="508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Agent 主循环</a:t>
                      </a:r>
                    </a:p>
                  </a:txBody>
                  <a:tcPr anchor="ctr" marL="76200" marR="76200" marT="50800" marB="50800">
                    <a:solidFill>
                      <a:srgbClr val="1E293B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cli.py</a:t>
                      </a:r>
                    </a:p>
                  </a:txBody>
                  <a:tcPr anchor="ctr" marL="76200" marR="76200" marT="50800" marB="50800">
                    <a:solidFill>
                      <a:srgbClr val="2733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10,013</a:t>
                      </a:r>
                    </a:p>
                  </a:txBody>
                  <a:tcPr anchor="ctr" marL="76200" marR="76200" marT="50800" marB="50800">
                    <a:solidFill>
                      <a:srgbClr val="2733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CLI 入口 + TUI</a:t>
                      </a:r>
                    </a:p>
                  </a:txBody>
                  <a:tcPr anchor="ctr" marL="76200" marR="76200" marT="50800" marB="50800">
                    <a:solidFill>
                      <a:srgbClr val="27334D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gateway/run.py</a:t>
                      </a:r>
                    </a:p>
                  </a:txBody>
                  <a:tcPr anchor="ctr" marL="76200" marR="76200" marT="50800" marB="508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~9,000</a:t>
                      </a:r>
                    </a:p>
                  </a:txBody>
                  <a:tcPr anchor="ctr" marL="76200" marR="76200" marT="50800" marB="508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消息网关</a:t>
                      </a:r>
                    </a:p>
                  </a:txBody>
                  <a:tcPr anchor="ctr" marL="76200" marR="76200" marT="50800" marB="50800">
                    <a:solidFill>
                      <a:srgbClr val="1E293B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hermes_cli/config.py</a:t>
                      </a:r>
                    </a:p>
                  </a:txBody>
                  <a:tcPr anchor="ctr" marL="76200" marR="76200" marT="50800" marB="50800">
                    <a:solidFill>
                      <a:srgbClr val="2733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3,306</a:t>
                      </a:r>
                    </a:p>
                  </a:txBody>
                  <a:tcPr anchor="ctr" marL="76200" marR="76200" marT="50800" marB="50800">
                    <a:solidFill>
                      <a:srgbClr val="2733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配置管理</a:t>
                      </a:r>
                    </a:p>
                  </a:txBody>
                  <a:tcPr anchor="ctr" marL="76200" marR="76200" marT="50800" marB="50800">
                    <a:solidFill>
                      <a:srgbClr val="27334D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hermes_cli/auth.py</a:t>
                      </a:r>
                    </a:p>
                  </a:txBody>
                  <a:tcPr anchor="ctr" marL="76200" marR="76200" marT="50800" marB="508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3,270</a:t>
                      </a:r>
                    </a:p>
                  </a:txBody>
                  <a:tcPr anchor="ctr" marL="76200" marR="76200" marT="50800" marB="508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认证管理</a:t>
                      </a:r>
                    </a:p>
                  </a:txBody>
                  <a:tcPr anchor="ctr" marL="76200" marR="76200" marT="50800" marB="50800">
                    <a:solidFill>
                      <a:srgbClr val="1E293B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hermes_cli/setup.py</a:t>
                      </a:r>
                    </a:p>
                  </a:txBody>
                  <a:tcPr anchor="ctr" marL="76200" marR="76200" marT="50800" marB="50800">
                    <a:solidFill>
                      <a:srgbClr val="2733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3,138</a:t>
                      </a:r>
                    </a:p>
                  </a:txBody>
                  <a:tcPr anchor="ctr" marL="76200" marR="76200" marT="50800" marB="50800">
                    <a:solidFill>
                      <a:srgbClr val="2733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初始化向导</a:t>
                      </a:r>
                    </a:p>
                  </a:txBody>
                  <a:tcPr anchor="ctr" marL="76200" marR="76200" marT="50800" marB="50800">
                    <a:solidFill>
                      <a:srgbClr val="27334D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hermes_cli/models.py</a:t>
                      </a:r>
                    </a:p>
                  </a:txBody>
                  <a:tcPr anchor="ctr" marL="76200" marR="76200" marT="50800" marB="508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1,933</a:t>
                      </a:r>
                    </a:p>
                  </a:txBody>
                  <a:tcPr anchor="ctr" marL="76200" marR="76200" marT="50800" marB="508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模型管理</a:t>
                      </a:r>
                    </a:p>
                  </a:txBody>
                  <a:tcPr anchor="ctr" marL="76200" marR="76200" marT="50800" marB="50800">
                    <a:solidFill>
                      <a:srgbClr val="1E293B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gateway/platforms/feishu.py</a:t>
                      </a:r>
                    </a:p>
                  </a:txBody>
                  <a:tcPr anchor="ctr" marL="76200" marR="76200" marT="50800" marB="50800">
                    <a:solidFill>
                      <a:srgbClr val="2733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3,950</a:t>
                      </a:r>
                    </a:p>
                  </a:txBody>
                  <a:tcPr anchor="ctr" marL="76200" marR="76200" marT="50800" marB="50800">
                    <a:solidFill>
                      <a:srgbClr val="2733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飞书适配器</a:t>
                      </a:r>
                    </a:p>
                  </a:txBody>
                  <a:tcPr anchor="ctr" marL="76200" marR="76200" marT="50800" marB="50800">
                    <a:solidFill>
                      <a:srgbClr val="27334D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7772400" y="2743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D3EE"/>
                </a:solidFill>
                <a:latin typeface="微软雅黑"/>
              </a:defRPr>
            </a:pPr>
            <a:r>
              <a:t>关键指标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3200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/>
              </a:defRPr>
            </a:pPr>
            <a:r>
              <a:t>编程语言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微软雅黑"/>
              </a:defRPr>
            </a:pPr>
            <a:r>
              <a:t>Python 3.11+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35844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/>
              </a:defRPr>
            </a:pPr>
            <a:r>
              <a:t>包管理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20" y="35844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微软雅黑"/>
              </a:defRPr>
            </a:pPr>
            <a:r>
              <a:t>uv / pip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396849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/>
              </a:defRPr>
            </a:pPr>
            <a:r>
              <a:t>框架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20" y="396849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微软雅黑"/>
              </a:defRPr>
            </a:pPr>
            <a:r>
              <a:t>OpenAI SDK + Fire CLI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435254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/>
              </a:defRPr>
            </a:pPr>
            <a:r>
              <a:t>测试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18320" y="435254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微软雅黑"/>
              </a:defRPr>
            </a:pPr>
            <a:r>
              <a:t>pytest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0" y="47365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/>
              </a:defRPr>
            </a:pPr>
            <a:r>
              <a:t>最大单文件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20" y="47365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微软雅黑"/>
              </a:defRPr>
            </a:pPr>
            <a:r>
              <a:t>run_agent.py (10.8K 行)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0" y="5120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/>
              </a:defRPr>
            </a:pPr>
            <a:r>
              <a:t>平台适配器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18320" y="5120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微软雅黑"/>
              </a:defRPr>
            </a:pPr>
            <a:r>
              <a:t>20+ 个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0" y="55046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/>
              </a:defRPr>
            </a:pPr>
            <a:r>
              <a:t>工具解析器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18320" y="55046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微软雅黑"/>
              </a:defRPr>
            </a:pPr>
            <a:r>
              <a:t>11 种模型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0" y="588873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/>
              </a:defRPr>
            </a:pPr>
            <a:r>
              <a:t>记忆插件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18320" y="588873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微软雅黑"/>
              </a:defRPr>
            </a:pPr>
            <a:r>
              <a:t>8 种后端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微软雅黑"/>
              </a:defRPr>
            </a:pPr>
            <a:r>
              <a:t>核心架构概览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BEAFE"/>
                </a:solidFill>
                <a:latin typeface="微软雅黑"/>
              </a:defRPr>
            </a:pPr>
            <a:r>
              <a:t>四层架构: 用户接口 → Agent 核心 → 工具执行 → 基础设施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4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1645920" cy="10058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1F5F9"/>
                </a:solidFill>
                <a:latin typeface="微软雅黑"/>
              </a:defRPr>
            </a:pPr>
            <a:r>
              <a:t>用户接口层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1371600"/>
            <a:ext cx="1828800" cy="822960"/>
          </a:xfrm>
          <a:prstGeom prst="round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0" y="1371600"/>
            <a:ext cx="18288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0" y="15544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微软雅黑"/>
              </a:defRPr>
            </a:pPr>
            <a:r>
              <a:t>CLI (TUI)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371600"/>
            <a:ext cx="1828800" cy="822960"/>
          </a:xfrm>
          <a:prstGeom prst="round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1371600"/>
            <a:ext cx="18288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15544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微软雅黑"/>
              </a:defRPr>
            </a:pPr>
            <a:r>
              <a:t>Gateway (多平台)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371600"/>
            <a:ext cx="1828800" cy="822960"/>
          </a:xfrm>
          <a:prstGeom prst="round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371600"/>
            <a:ext cx="18288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5544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微软雅黑"/>
              </a:defRPr>
            </a:pPr>
            <a:r>
              <a:t>Web (React)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1371600"/>
            <a:ext cx="1828800" cy="822960"/>
          </a:xfrm>
          <a:prstGeom prst="round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79" y="1371600"/>
            <a:ext cx="18288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19" y="15544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微软雅黑"/>
              </a:defRPr>
            </a:pPr>
            <a:r>
              <a:t>ACP Server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2560320"/>
            <a:ext cx="1645920" cy="10058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8346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1F5F9"/>
                </a:solidFill>
                <a:latin typeface="微软雅黑"/>
              </a:defRPr>
            </a:pPr>
            <a:r>
              <a:t>Agent 核心层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86000" y="2651760"/>
            <a:ext cx="1828800" cy="822960"/>
          </a:xfrm>
          <a:prstGeom prst="round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86000" y="2651760"/>
            <a:ext cx="18288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77440" y="28346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微软雅黑"/>
              </a:defRPr>
            </a:pPr>
            <a:r>
              <a:t>run_agent.py / AIAgent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51960" y="2651760"/>
            <a:ext cx="1828800" cy="822960"/>
          </a:xfrm>
          <a:prstGeom prst="round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51960" y="2651760"/>
            <a:ext cx="18288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43400" y="28346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微软雅黑"/>
              </a:defRPr>
            </a:pPr>
            <a:r>
              <a:t>prompt_builder (系统提示组装)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2651760"/>
            <a:ext cx="1828800" cy="822960"/>
          </a:xfrm>
          <a:prstGeom prst="round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2651760"/>
            <a:ext cx="18288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28346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微软雅黑"/>
              </a:defRPr>
            </a:pPr>
            <a:r>
              <a:t>context_compressor (上下文压缩)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83879" y="2651760"/>
            <a:ext cx="1828800" cy="822960"/>
          </a:xfrm>
          <a:prstGeom prst="round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83879" y="2651760"/>
            <a:ext cx="18288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75319" y="28346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微软雅黑"/>
              </a:defRPr>
            </a:pPr>
            <a:r>
              <a:t>memory_manager (记忆管理)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149840" y="2651760"/>
            <a:ext cx="1828800" cy="822960"/>
          </a:xfrm>
          <a:prstGeom prst="round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149840" y="2651760"/>
            <a:ext cx="18288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41280" y="28346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微软雅黑"/>
              </a:defRPr>
            </a:pPr>
            <a:r>
              <a:t>smart_model_routing (智能路由)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5760" y="4206240"/>
            <a:ext cx="1645920" cy="10058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44805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1F5F9"/>
                </a:solidFill>
                <a:latin typeface="微软雅黑"/>
              </a:defRPr>
            </a:pPr>
            <a:r>
              <a:t>工具执行层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286000" y="4297680"/>
            <a:ext cx="1828800" cy="822960"/>
          </a:xfrm>
          <a:prstGeom prst="round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286000" y="4297680"/>
            <a:ext cx="18288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377440" y="44805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微软雅黑"/>
              </a:defRPr>
            </a:pPr>
            <a:r>
              <a:t>Terminal (6后端)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51960" y="4297680"/>
            <a:ext cx="1828800" cy="822960"/>
          </a:xfrm>
          <a:prstGeom prst="round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51960" y="4297680"/>
            <a:ext cx="18288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43400" y="44805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微软雅黑"/>
              </a:defRPr>
            </a:pPr>
            <a:r>
              <a:t>Browser (CamoFox)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17920" y="4297680"/>
            <a:ext cx="1828800" cy="822960"/>
          </a:xfrm>
          <a:prstGeom prst="round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17920" y="4297680"/>
            <a:ext cx="18288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09360" y="44805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微软雅黑"/>
              </a:defRPr>
            </a:pPr>
            <a:r>
              <a:t>MCP (协议桥)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183879" y="4297680"/>
            <a:ext cx="1828800" cy="822960"/>
          </a:xfrm>
          <a:prstGeom prst="round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183879" y="4297680"/>
            <a:ext cx="18288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75319" y="44805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微软雅黑"/>
              </a:defRPr>
            </a:pPr>
            <a:r>
              <a:t>Delegate (子Agent)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149840" y="4297680"/>
            <a:ext cx="1828800" cy="822960"/>
          </a:xfrm>
          <a:prstGeom prst="round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149840" y="4297680"/>
            <a:ext cx="18288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241280" y="44805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微软雅黑"/>
              </a:defRPr>
            </a:pPr>
            <a:r>
              <a:t>Skills (技能)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2115800" y="4297680"/>
            <a:ext cx="1828800" cy="822960"/>
          </a:xfrm>
          <a:prstGeom prst="round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2115800" y="4297680"/>
            <a:ext cx="18288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207240" y="44805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微软雅黑"/>
              </a:defRPr>
            </a:pPr>
            <a:r>
              <a:t>Web (搜索)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65760" y="5486400"/>
            <a:ext cx="1645920" cy="1005840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57607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1F5F9"/>
                </a:solidFill>
                <a:latin typeface="微软雅黑"/>
              </a:defRPr>
            </a:pPr>
            <a:r>
              <a:t>基础设施层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286000" y="5577840"/>
            <a:ext cx="1828800" cy="822960"/>
          </a:xfrm>
          <a:prstGeom prst="round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286000" y="5577840"/>
            <a:ext cx="1828800" cy="381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377440" y="57607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微软雅黑"/>
              </a:defRPr>
            </a:pPr>
            <a:r>
              <a:t>Config (配置)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251960" y="5577840"/>
            <a:ext cx="1828800" cy="822960"/>
          </a:xfrm>
          <a:prstGeom prst="round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251960" y="5577840"/>
            <a:ext cx="1828800" cy="381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343400" y="57607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微软雅黑"/>
              </a:defRPr>
            </a:pPr>
            <a:r>
              <a:t>Cron (调度)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217920" y="5577840"/>
            <a:ext cx="1828800" cy="822960"/>
          </a:xfrm>
          <a:prstGeom prst="round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217920" y="5577840"/>
            <a:ext cx="1828800" cy="381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309360" y="57607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微软雅黑"/>
              </a:defRPr>
            </a:pPr>
            <a:r>
              <a:t>Plugins (插件)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183879" y="5577840"/>
            <a:ext cx="1828800" cy="822960"/>
          </a:xfrm>
          <a:prstGeom prst="round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183879" y="5577840"/>
            <a:ext cx="1828800" cy="381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275319" y="57607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微软雅黑"/>
              </a:defRPr>
            </a:pPr>
            <a:r>
              <a:t>Registry (工具注册)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0149840" y="5577840"/>
            <a:ext cx="1828800" cy="822960"/>
          </a:xfrm>
          <a:prstGeom prst="round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0149840" y="5577840"/>
            <a:ext cx="1828800" cy="381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241280" y="57607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微软雅黑"/>
              </a:defRPr>
            </a:pPr>
            <a:r>
              <a:t>ACP (协议适配)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2115800" y="5577840"/>
            <a:ext cx="1828800" cy="822960"/>
          </a:xfrm>
          <a:prstGeom prst="round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2115800" y="5577840"/>
            <a:ext cx="1828800" cy="381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2207240" y="57607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微软雅黑"/>
              </a:defRPr>
            </a:pPr>
            <a:r>
              <a:t>RL Env (训练)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微软雅黑"/>
              </a:defRPr>
            </a:pPr>
            <a:r>
              <a:t>核心引擎详解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BEAFE"/>
                </a:solidFill>
                <a:latin typeface="微软雅黑"/>
              </a:defRPr>
            </a:pPr>
            <a:r>
              <a:t>run_agent.py — AIAgent 主循环 (10,865 行)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5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微软雅黑"/>
              </a:defRPr>
            </a:pPr>
            <a:r>
              <a:t>run_conversation() 核心流程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0"/>
              </a:lnSpc>
              <a:spcAft>
                <a:spcPts val="780"/>
              </a:spcAft>
              <a:defRPr sz="1300">
                <a:solidFill>
                  <a:srgbClr val="CBD5E1"/>
                </a:solidFill>
                <a:latin typeface="微软雅黑"/>
              </a:defRPr>
            </a:pPr>
            <a:r>
              <a:t>● 1. 用户消息 → 追加到 messages</a:t>
            </a:r>
          </a:p>
          <a:p>
            <a:pPr>
              <a:lnSpc>
                <a:spcPts val="1950"/>
              </a:lnSpc>
              <a:spcAft>
                <a:spcPts val="780"/>
              </a:spcAft>
              <a:defRPr sz="1300">
                <a:solidFill>
                  <a:srgbClr val="CBD5E1"/>
                </a:solidFill>
                <a:latin typeface="微软雅黑"/>
              </a:defRPr>
            </a:pPr>
            <a:r>
              <a:t>● 2. 记忆预取 → memory_manager.prefetch_all()</a:t>
            </a:r>
          </a:p>
          <a:p>
            <a:pPr>
              <a:lnSpc>
                <a:spcPts val="1950"/>
              </a:lnSpc>
              <a:spcAft>
                <a:spcPts val="780"/>
              </a:spcAft>
              <a:defRPr sz="1300">
                <a:solidFill>
                  <a:srgbClr val="CBD5E1"/>
                </a:solidFill>
                <a:latin typeface="微软雅黑"/>
              </a:defRPr>
            </a:pPr>
            <a:r>
              <a:t>● 3. 组装系统提示 → _build_system_prompt()</a:t>
            </a:r>
          </a:p>
          <a:p>
            <a:pPr>
              <a:lnSpc>
                <a:spcPts val="1950"/>
              </a:lnSpc>
              <a:spcAft>
                <a:spcPts val="780"/>
              </a:spcAft>
              <a:defRPr sz="1300">
                <a:solidFill>
                  <a:srgbClr val="CBD5E1"/>
                </a:solidFill>
                <a:latin typeface="微软雅黑"/>
              </a:defRPr>
            </a:pPr>
            <a:r>
              <a:t>● 4. 上下文压缩检查 → context_engine.should_compress()</a:t>
            </a:r>
          </a:p>
          <a:p>
            <a:pPr>
              <a:lnSpc>
                <a:spcPts val="1950"/>
              </a:lnSpc>
              <a:spcAft>
                <a:spcPts val="780"/>
              </a:spcAft>
              <a:defRPr sz="1300">
                <a:solidFill>
                  <a:srgbClr val="CBD5E1"/>
                </a:solidFill>
                <a:latin typeface="微软雅黑"/>
              </a:defRPr>
            </a:pPr>
            <a:r>
              <a:t>● 5. 调用 LLM → call_llm (含 failover/重试)</a:t>
            </a:r>
          </a:p>
          <a:p>
            <a:pPr>
              <a:lnSpc>
                <a:spcPts val="1950"/>
              </a:lnSpc>
              <a:spcAft>
                <a:spcPts val="780"/>
              </a:spcAft>
              <a:defRPr sz="1300">
                <a:solidFill>
                  <a:srgbClr val="CBD5E1"/>
                </a:solidFill>
                <a:latin typeface="微软雅黑"/>
              </a:defRPr>
            </a:pPr>
            <a:r>
              <a:t>● 6. 工具调用 → registry.dispatch() 分发</a:t>
            </a:r>
          </a:p>
          <a:p>
            <a:pPr>
              <a:lnSpc>
                <a:spcPts val="1950"/>
              </a:lnSpc>
              <a:spcAft>
                <a:spcPts val="780"/>
              </a:spcAft>
              <a:defRPr sz="1300">
                <a:solidFill>
                  <a:srgbClr val="CBD5E1"/>
                </a:solidFill>
                <a:latin typeface="微软雅黑"/>
              </a:defRPr>
            </a:pPr>
            <a:r>
              <a:t>● 7. 循环直至无工具调用 → 最终回复</a:t>
            </a:r>
          </a:p>
          <a:p>
            <a:pPr>
              <a:lnSpc>
                <a:spcPts val="1950"/>
              </a:lnSpc>
              <a:spcAft>
                <a:spcPts val="780"/>
              </a:spcAft>
              <a:defRPr sz="1300">
                <a:solidFill>
                  <a:srgbClr val="CBD5E1"/>
                </a:solidFill>
                <a:latin typeface="微软雅黑"/>
              </a:defRPr>
            </a:pPr>
            <a:r>
              <a:t>● 8. 记忆同步 → memory_manager.sync_all()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D3EE"/>
                </a:solidFill>
                <a:latin typeface="微软雅黑"/>
              </a:defRPr>
            </a:pPr>
            <a:r>
              <a:t>关键机制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5029200" cy="1097280"/>
          </a:xfrm>
          <a:prstGeom prst="round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828800"/>
            <a:ext cx="50800" cy="10972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920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D3EE"/>
                </a:solidFill>
                <a:latin typeface="微软雅黑"/>
              </a:defRPr>
            </a:pPr>
            <a:r>
              <a:t>Failover &amp; 重试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2402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classify_api_error() 分类 + jittered_backoff() 退避</a:t>
            </a:r>
            <a:br/>
            <a:r>
              <a:t>自动切换备用模型/端点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108960"/>
            <a:ext cx="5029200" cy="1097280"/>
          </a:xfrm>
          <a:prstGeom prst="round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3108960"/>
            <a:ext cx="50800" cy="10972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3200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D3EE"/>
                </a:solidFill>
                <a:latin typeface="微软雅黑"/>
              </a:defRPr>
            </a:pPr>
            <a:r>
              <a:t>智能模型路由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52044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根据消息复杂度关键词选择 cheap vs strong 模型</a:t>
            </a:r>
            <a:br/>
            <a:r>
              <a:t>可配置双模型策略，节省成本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389120"/>
            <a:ext cx="5029200" cy="1097280"/>
          </a:xfrm>
          <a:prstGeom prst="round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4389120"/>
            <a:ext cx="50800" cy="10972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4480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D3EE"/>
                </a:solidFill>
                <a:latin typeface="微软雅黑"/>
              </a:defRPr>
            </a:pPr>
            <a:r>
              <a:t>Prompt Caching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8006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Anthropic 原生缓存支持</a:t>
            </a:r>
            <a:br/>
            <a:r>
              <a:t>自动标记静态部分（系统提示、技能索引）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注: run_conversation() 约 2300 行内联逻辑，LLM 调用/工具分发/上下文压缩均未拆分为独立方法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微软雅黑"/>
              </a:defRPr>
            </a:pPr>
            <a:r>
              <a:t>工具系统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BEAFE"/>
                </a:solidFill>
                <a:latin typeface="微软雅黑"/>
              </a:defRPr>
            </a:pPr>
            <a:r>
              <a:t>tools/registry.py 注册中心 + 50+ 内置工具 + 6 种终端后端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6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微软雅黑"/>
              </a:defRPr>
            </a:pPr>
            <a:r>
              <a:t>Terminal Tool — 6 种执行后端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5080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local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7830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默认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783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微软雅黑"/>
              </a:defRPr>
            </a:pPr>
            <a:r>
              <a:t>直接本机执行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240280"/>
            <a:ext cx="50800" cy="4114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86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Calibri"/>
              </a:defRPr>
            </a:pPr>
            <a:r>
              <a:t>docker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2860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TERMINAL_ENV=docker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286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微软雅黑"/>
              </a:defRPr>
            </a:pPr>
            <a:r>
              <a:t>容器隔离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743200"/>
            <a:ext cx="5080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7889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modal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27889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TERMINAL_ENV=modal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788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微软雅黑"/>
              </a:defRPr>
            </a:pPr>
            <a:r>
              <a:t>Serverless 云沙箱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246120"/>
            <a:ext cx="50800" cy="4114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291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D3EE"/>
                </a:solidFill>
                <a:latin typeface="Calibri"/>
              </a:defRPr>
            </a:pPr>
            <a:r>
              <a:t>ssh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32918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TERMINAL_ENV=ssh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291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微软雅黑"/>
              </a:defRPr>
            </a:pPr>
            <a:r>
              <a:t>远程 SSH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749040"/>
            <a:ext cx="50800" cy="41148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794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72B6"/>
                </a:solidFill>
                <a:latin typeface="Calibri"/>
              </a:defRPr>
            </a:pPr>
            <a:r>
              <a:t>daytona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37947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TERMINAL_ENV=daytona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3794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微软雅黑"/>
              </a:defRPr>
            </a:pPr>
            <a:r>
              <a:t>Daytona 开发环境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251960"/>
            <a:ext cx="50800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297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  <a:latin typeface="Calibri"/>
              </a:defRPr>
            </a:pPr>
            <a:r>
              <a:t>singularity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42976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TERMINAL_ENV=singularity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4297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微软雅黑"/>
              </a:defRPr>
            </a:pPr>
            <a:r>
              <a:t>HPC 环境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微软雅黑"/>
              </a:defRPr>
            </a:pPr>
            <a:r>
              <a:t>核心工具一览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17373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Delegate Tool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子 Agent 委托，并行执行，最大深度 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217627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Browser Tool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21762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CamoFox 反指纹浏览器自动化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2615184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MCP Tool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261518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Model Context Protocol 协议桥接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305409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Memory Tool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305409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读写 MEMORY.md / USER.md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349300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Skills Tool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3920" y="34930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技能发现、创建、执行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39319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Session Search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03920" y="3931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FTS5 全文搜索历史会话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437083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Cron Tools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03920" y="437083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定时任务 CRUD 管理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4809744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Vision Tool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03920" y="480974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图像分析与识别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524865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TTS Tool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03920" y="524865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语音合成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5120640"/>
            <a:ext cx="11247120" cy="1097280"/>
          </a:xfrm>
          <a:prstGeom prst="round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" y="52120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/>
              </a:defRPr>
            </a:pPr>
            <a:r>
              <a:t>工具注册模式: 每个 tools/*.py 在模块级调用 registry.register()，import 即注册 — 零配置发现</a:t>
            </a:r>
            <a:br/>
            <a:r>
              <a:t>导入链: tools/registry.py ← tools/*.py ← model_tools.py ← run_agent.py / cli.py / batch_runner.py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微软雅黑"/>
              </a:defRPr>
            </a:pPr>
            <a:r>
              <a:t>Skills 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BEAFE"/>
                </a:solidFill>
                <a:latin typeface="微软雅黑"/>
              </a:defRPr>
            </a:pPr>
            <a:r>
              <a:t>Agent 的程序性记忆 — 捕获「如何做特定任务」的经验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7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微软雅黑"/>
              </a:defRPr>
            </a:pPr>
            <a:r>
              <a:t>声明式记忆 vs 程序性记忆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2377440" cy="1828800"/>
          </a:xfrm>
          <a:prstGeom prst="round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237744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7451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微软雅黑"/>
              </a:defRPr>
            </a:pPr>
            <a:r>
              <a:t>声明式记忆 (是什么)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30"/>
              </a:lnSpc>
              <a:spcAft>
                <a:spcPts val="660"/>
              </a:spcAft>
              <a:defRPr sz="1100">
                <a:solidFill>
                  <a:srgbClr val="CBD5E1"/>
                </a:solidFill>
                <a:latin typeface="微软雅黑"/>
              </a:defRPr>
            </a:pPr>
            <a:r>
              <a:t>· MEMORY.md</a:t>
            </a:r>
          </a:p>
          <a:p>
            <a:pPr>
              <a:lnSpc>
                <a:spcPts val="1430"/>
              </a:lnSpc>
              <a:spcAft>
                <a:spcPts val="660"/>
              </a:spcAft>
              <a:defRPr sz="1100">
                <a:solidFill>
                  <a:srgbClr val="CBD5E1"/>
                </a:solidFill>
                <a:latin typeface="微软雅黑"/>
              </a:defRPr>
            </a:pPr>
            <a:r>
              <a:t>· USER.md</a:t>
            </a:r>
          </a:p>
          <a:p>
            <a:pPr>
              <a:lnSpc>
                <a:spcPts val="1430"/>
              </a:lnSpc>
              <a:spcAft>
                <a:spcPts val="660"/>
              </a:spcAft>
              <a:defRPr sz="1100">
                <a:solidFill>
                  <a:srgbClr val="CBD5E1"/>
                </a:solidFill>
                <a:latin typeface="微软雅黑"/>
              </a:defRPr>
            </a:pPr>
            <a:r>
              <a:t>· 宽泛的、事实性知识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1737360"/>
            <a:ext cx="2377440" cy="1828800"/>
          </a:xfrm>
          <a:prstGeom prst="round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0" y="1737360"/>
            <a:ext cx="237744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187451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微软雅黑"/>
              </a:defRPr>
            </a:pPr>
            <a:r>
              <a:t>程序性记忆 (怎么做)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19456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30"/>
              </a:lnSpc>
              <a:spcAft>
                <a:spcPts val="660"/>
              </a:spcAft>
              <a:defRPr sz="1100">
                <a:solidFill>
                  <a:srgbClr val="CBD5E1"/>
                </a:solidFill>
                <a:latin typeface="微软雅黑"/>
              </a:defRPr>
            </a:pPr>
            <a:r>
              <a:t>· Skills/</a:t>
            </a:r>
          </a:p>
          <a:p>
            <a:pPr>
              <a:lnSpc>
                <a:spcPts val="1430"/>
              </a:lnSpc>
              <a:spcAft>
                <a:spcPts val="660"/>
              </a:spcAft>
              <a:defRPr sz="1100">
                <a:solidFill>
                  <a:srgbClr val="CBD5E1"/>
                </a:solidFill>
                <a:latin typeface="微软雅黑"/>
              </a:defRPr>
            </a:pPr>
            <a:r>
              <a:t>· SKILL.md</a:t>
            </a:r>
          </a:p>
          <a:p>
            <a:pPr>
              <a:lnSpc>
                <a:spcPts val="1430"/>
              </a:lnSpc>
              <a:spcAft>
                <a:spcPts val="660"/>
              </a:spcAft>
              <a:defRPr sz="1100">
                <a:solidFill>
                  <a:srgbClr val="CBD5E1"/>
                </a:solidFill>
                <a:latin typeface="微软雅黑"/>
              </a:defRPr>
            </a:pPr>
            <a:r>
              <a:t>· 具体的、可操作流程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840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D3EE"/>
                </a:solidFill>
                <a:latin typeface="微软雅黑"/>
              </a:defRPr>
            </a:pPr>
            <a:r>
              <a:t>Skill 生命周期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297680"/>
            <a:ext cx="2011680" cy="1371600"/>
          </a:xfrm>
          <a:prstGeom prst="round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297680"/>
            <a:ext cx="201168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434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  <a:latin typeface="微软雅黑"/>
              </a:defRPr>
            </a:pPr>
            <a:r>
              <a:t>创建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7548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Agent 从复杂任务经验中自动创建</a:t>
            </a:r>
            <a:br/>
            <a:r>
              <a:t>或用户手动编写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0" y="4297680"/>
            <a:ext cx="2011680" cy="1371600"/>
          </a:xfrm>
          <a:prstGeom prst="round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0" y="4297680"/>
            <a:ext cx="201168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34640" y="4434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微软雅黑"/>
              </a:defRPr>
            </a:pPr>
            <a:r>
              <a:t>发现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47548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prompt_builder 扫描所有 SKILL.md</a:t>
            </a:r>
            <a:br/>
            <a:r>
              <a:t>构建索引 → 匹配用户消息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37760" y="4297680"/>
            <a:ext cx="2011680" cy="1371600"/>
          </a:xfrm>
          <a:prstGeom prst="round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37760" y="4297680"/>
            <a:ext cx="201168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0" y="4434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  <a:latin typeface="微软雅黑"/>
              </a:defRPr>
            </a:pPr>
            <a:r>
              <a:t>执行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47548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作为系统提示的一部分</a:t>
            </a:r>
            <a:br/>
            <a:r>
              <a:t>指导 Agent 行为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19" y="4297680"/>
            <a:ext cx="2011680" cy="1371600"/>
          </a:xfrm>
          <a:prstGeom prst="round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32319" y="4297680"/>
            <a:ext cx="2011680" cy="381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23759" y="4434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472B6"/>
                </a:solidFill>
                <a:latin typeface="微软雅黑"/>
              </a:defRPr>
            </a:pPr>
            <a:r>
              <a:t>改进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59" y="47548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Agent 使用中通过</a:t>
            </a:r>
            <a:br/>
            <a:r>
              <a:t>skill_manager 编辑优化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26880" y="4297680"/>
            <a:ext cx="2011680" cy="1371600"/>
          </a:xfrm>
          <a:prstGeom prst="round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326880" y="4297680"/>
            <a:ext cx="201168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18320" y="4434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D3EE"/>
                </a:solidFill>
                <a:latin typeface="微软雅黑"/>
              </a:defRPr>
            </a:pPr>
            <a:r>
              <a:t>分享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47548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通过 Skills Hub</a:t>
            </a:r>
            <a:br/>
            <a:r>
              <a:t>发布到社区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微软雅黑"/>
              </a:defRPr>
            </a:pPr>
            <a:r>
              <a:t>Skills Hub 社区市场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17373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0"/>
              </a:lnSpc>
              <a:spcAft>
                <a:spcPts val="780"/>
              </a:spcAft>
              <a:defRPr sz="1300">
                <a:solidFill>
                  <a:srgbClr val="CBD5E1"/>
                </a:solidFill>
                <a:latin typeface="微软雅黑"/>
              </a:defRPr>
            </a:pPr>
            <a:r>
              <a:t>▸ 兼容 agentskills.io 开放标准</a:t>
            </a:r>
          </a:p>
          <a:p>
            <a:pPr>
              <a:lnSpc>
                <a:spcPts val="1950"/>
              </a:lnSpc>
              <a:spcAft>
                <a:spcPts val="780"/>
              </a:spcAft>
              <a:defRPr sz="1300">
                <a:solidFill>
                  <a:srgbClr val="CBD5E1"/>
                </a:solidFill>
                <a:latin typeface="微软雅黑"/>
              </a:defRPr>
            </a:pPr>
            <a:r>
              <a:t>▸ 搜索/安装社区技能</a:t>
            </a:r>
          </a:p>
          <a:p>
            <a:pPr>
              <a:lnSpc>
                <a:spcPts val="1950"/>
              </a:lnSpc>
              <a:spcAft>
                <a:spcPts val="780"/>
              </a:spcAft>
              <a:defRPr sz="1300">
                <a:solidFill>
                  <a:srgbClr val="CBD5E1"/>
                </a:solidFill>
                <a:latin typeface="微软雅黑"/>
              </a:defRPr>
            </a:pPr>
            <a:r>
              <a:t>▸ 安全扫描 (skills_guard.py) — 检测恶意代码</a:t>
            </a:r>
          </a:p>
          <a:p>
            <a:pPr>
              <a:lnSpc>
                <a:spcPts val="1950"/>
              </a:lnSpc>
              <a:spcAft>
                <a:spcPts val="780"/>
              </a:spcAft>
              <a:defRPr sz="1300">
                <a:solidFill>
                  <a:srgbClr val="CBD5E1"/>
                </a:solidFill>
                <a:latin typeface="微软雅黑"/>
              </a:defRPr>
            </a:pPr>
            <a:r>
              <a:t>▸ 依赖检查 + 版本管理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3200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472B6"/>
                </a:solidFill>
                <a:latin typeface="微软雅黑"/>
              </a:defRPr>
            </a:pPr>
            <a:r>
              <a:t>内置技能分类 (26 类)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36576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79"/>
              </a:lnSpc>
              <a:spcAft>
                <a:spcPts val="719"/>
              </a:spcAft>
              <a:defRPr sz="1200">
                <a:solidFill>
                  <a:srgbClr val="CBD5E1"/>
                </a:solidFill>
                <a:latin typeface="微软雅黑"/>
              </a:defRPr>
            </a:pPr>
            <a:r>
              <a:t>· software-development · devops · data-science</a:t>
            </a:r>
          </a:p>
          <a:p>
            <a:pPr>
              <a:lnSpc>
                <a:spcPts val="1679"/>
              </a:lnSpc>
              <a:spcAft>
                <a:spcPts val="719"/>
              </a:spcAft>
              <a:defRPr sz="1200">
                <a:solidFill>
                  <a:srgbClr val="CBD5E1"/>
                </a:solidFill>
                <a:latin typeface="微软雅黑"/>
              </a:defRPr>
            </a:pPr>
            <a:r>
              <a:t>· research · mlops · productivity · email</a:t>
            </a:r>
          </a:p>
          <a:p>
            <a:pPr>
              <a:lnSpc>
                <a:spcPts val="1679"/>
              </a:lnSpc>
              <a:spcAft>
                <a:spcPts val="719"/>
              </a:spcAft>
              <a:defRPr sz="1200">
                <a:solidFill>
                  <a:srgbClr val="CBD5E1"/>
                </a:solidFill>
                <a:latin typeface="微软雅黑"/>
              </a:defRPr>
            </a:pPr>
            <a:r>
              <a:t>· mcp · red-teaming · gaming · smart-home</a:t>
            </a:r>
          </a:p>
          <a:p>
            <a:pPr>
              <a:lnSpc>
                <a:spcPts val="1679"/>
              </a:lnSpc>
              <a:spcAft>
                <a:spcPts val="719"/>
              </a:spcAft>
              <a:defRPr sz="1200">
                <a:solidFill>
                  <a:srgbClr val="CBD5E1"/>
                </a:solidFill>
                <a:latin typeface="微软雅黑"/>
              </a:defRPr>
            </a:pPr>
            <a:r>
              <a:t>· social-media · creative · 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微软雅黑"/>
              </a:defRPr>
            </a:pPr>
            <a:r>
              <a:t>Gateway 多平台适配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BEAFE"/>
                </a:solidFill>
                <a:latin typeface="微软雅黑"/>
              </a:defRPr>
            </a:pPr>
            <a:r>
              <a:t>20+ 平台适配器 · 飞书 3,950 行 (最大平台文件)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8 / 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6858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097280"/>
                <a:gridCol w="4389120"/>
              </a:tblGrid>
              <a:tr h="35169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1F5F9"/>
                          </a:solidFill>
                          <a:latin typeface="微软雅黑"/>
                        </a:defRPr>
                      </a:pPr>
                      <a:r>
                        <a:t>平台</a:t>
                      </a:r>
                    </a:p>
                  </a:txBody>
                  <a:tcPr anchor="ctr" marL="76200" marR="76200" marT="50800" marB="5080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1F5F9"/>
                          </a:solidFill>
                          <a:latin typeface="微软雅黑"/>
                        </a:defRPr>
                      </a:pPr>
                      <a:r>
                        <a:t>代码行数</a:t>
                      </a:r>
                    </a:p>
                  </a:txBody>
                  <a:tcPr anchor="ctr" marL="76200" marR="76200" marT="50800" marB="5080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1F5F9"/>
                          </a:solidFill>
                          <a:latin typeface="微软雅黑"/>
                        </a:defRPr>
                      </a:pPr>
                      <a:r>
                        <a:t>特性</a:t>
                      </a:r>
                    </a:p>
                  </a:txBody>
                  <a:tcPr anchor="ctr" marL="76200" marR="76200" marT="50800" marB="50800">
                    <a:solidFill>
                      <a:srgbClr val="3B82F6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Telegram</a:t>
                      </a:r>
                    </a:p>
                  </a:txBody>
                  <a:tcPr anchor="ctr" marL="76200" marR="76200" marT="50800" marB="508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2,786</a:t>
                      </a:r>
                    </a:p>
                  </a:txBody>
                  <a:tcPr anchor="ctr" marL="76200" marR="76200" marT="50800" marB="508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语音转写、贴纸缓存、内联按钮</a:t>
                      </a:r>
                    </a:p>
                  </a:txBody>
                  <a:tcPr anchor="ctr" marL="76200" marR="76200" marT="50800" marB="50800">
                    <a:solidFill>
                      <a:srgbClr val="1E293B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Discord</a:t>
                      </a:r>
                    </a:p>
                  </a:txBody>
                  <a:tcPr anchor="ctr" marL="76200" marR="76200" marT="50800" marB="50800">
                    <a:solidFill>
                      <a:srgbClr val="2733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2,963</a:t>
                      </a:r>
                    </a:p>
                  </a:txBody>
                  <a:tcPr anchor="ctr" marL="76200" marR="76200" marT="50800" marB="50800">
                    <a:solidFill>
                      <a:srgbClr val="2733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Slash 命令、线程、嵌入消息</a:t>
                      </a:r>
                    </a:p>
                  </a:txBody>
                  <a:tcPr anchor="ctr" marL="76200" marR="76200" marT="50800" marB="50800">
                    <a:solidFill>
                      <a:srgbClr val="27334D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Slack</a:t>
                      </a:r>
                    </a:p>
                  </a:txBody>
                  <a:tcPr anchor="ctr" marL="76200" marR="76200" marT="50800" marB="508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1,670</a:t>
                      </a:r>
                    </a:p>
                  </a:txBody>
                  <a:tcPr anchor="ctr" marL="76200" marR="76200" marT="50800" marB="508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Socket Mode、Block Kit</a:t>
                      </a:r>
                    </a:p>
                  </a:txBody>
                  <a:tcPr anchor="ctr" marL="76200" marR="76200" marT="50800" marB="50800">
                    <a:solidFill>
                      <a:srgbClr val="1E293B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飞书</a:t>
                      </a:r>
                    </a:p>
                  </a:txBody>
                  <a:tcPr anchor="ctr" marL="76200" marR="76200" marT="50800" marB="50800">
                    <a:solidFill>
                      <a:srgbClr val="2733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3,950</a:t>
                      </a:r>
                    </a:p>
                  </a:txBody>
                  <a:tcPr anchor="ctr" marL="76200" marR="76200" marT="50800" marB="50800">
                    <a:solidFill>
                      <a:srgbClr val="2733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事件订阅、卡片消息、群聊</a:t>
                      </a:r>
                    </a:p>
                  </a:txBody>
                  <a:tcPr anchor="ctr" marL="76200" marR="76200" marT="50800" marB="50800">
                    <a:solidFill>
                      <a:srgbClr val="27334D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微信</a:t>
                      </a:r>
                    </a:p>
                  </a:txBody>
                  <a:tcPr anchor="ctr" marL="76200" marR="76200" marT="50800" marB="508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1,829</a:t>
                      </a:r>
                    </a:p>
                  </a:txBody>
                  <a:tcPr anchor="ctr" marL="76200" marR="76200" marT="50800" marB="508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桥接模式</a:t>
                      </a:r>
                    </a:p>
                  </a:txBody>
                  <a:tcPr anchor="ctr" marL="76200" marR="76200" marT="50800" marB="50800">
                    <a:solidFill>
                      <a:srgbClr val="1E293B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企业微信</a:t>
                      </a:r>
                    </a:p>
                  </a:txBody>
                  <a:tcPr anchor="ctr" marL="76200" marR="76200" marT="50800" marB="50800">
                    <a:solidFill>
                      <a:srgbClr val="2733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1,430</a:t>
                      </a:r>
                    </a:p>
                  </a:txBody>
                  <a:tcPr anchor="ctr" marL="76200" marR="76200" marT="50800" marB="50800">
                    <a:solidFill>
                      <a:srgbClr val="2733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WeCom 适配</a:t>
                      </a:r>
                    </a:p>
                  </a:txBody>
                  <a:tcPr anchor="ctr" marL="76200" marR="76200" marT="50800" marB="50800">
                    <a:solidFill>
                      <a:srgbClr val="27334D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钉钉</a:t>
                      </a:r>
                    </a:p>
                  </a:txBody>
                  <a:tcPr anchor="ctr" marL="76200" marR="76200" marT="50800" marB="508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333</a:t>
                      </a:r>
                    </a:p>
                  </a:txBody>
                  <a:tcPr anchor="ctr" marL="76200" marR="76200" marT="50800" marB="508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DingTalk</a:t>
                      </a:r>
                    </a:p>
                  </a:txBody>
                  <a:tcPr anchor="ctr" marL="76200" marR="76200" marT="50800" marB="50800">
                    <a:solidFill>
                      <a:srgbClr val="1E293B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WhatsApp</a:t>
                      </a:r>
                    </a:p>
                  </a:txBody>
                  <a:tcPr anchor="ctr" marL="76200" marR="76200" marT="50800" marB="50800">
                    <a:solidFill>
                      <a:srgbClr val="2733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989</a:t>
                      </a:r>
                    </a:p>
                  </a:txBody>
                  <a:tcPr anchor="ctr" marL="76200" marR="76200" marT="50800" marB="50800">
                    <a:solidFill>
                      <a:srgbClr val="2733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桥接模式、语音备忘录</a:t>
                      </a:r>
                    </a:p>
                  </a:txBody>
                  <a:tcPr anchor="ctr" marL="76200" marR="76200" marT="50800" marB="50800">
                    <a:solidFill>
                      <a:srgbClr val="27334D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Signal</a:t>
                      </a:r>
                    </a:p>
                  </a:txBody>
                  <a:tcPr anchor="ctr" marL="76200" marR="76200" marT="50800" marB="508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825</a:t>
                      </a:r>
                    </a:p>
                  </a:txBody>
                  <a:tcPr anchor="ctr" marL="76200" marR="76200" marT="50800" marB="508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signal-cli 桥接</a:t>
                      </a:r>
                    </a:p>
                  </a:txBody>
                  <a:tcPr anchor="ctr" marL="76200" marR="76200" marT="50800" marB="50800">
                    <a:solidFill>
                      <a:srgbClr val="1E293B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Matrix</a:t>
                      </a:r>
                    </a:p>
                  </a:txBody>
                  <a:tcPr anchor="ctr" marL="76200" marR="76200" marT="50800" marB="50800">
                    <a:solidFill>
                      <a:srgbClr val="2733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2,005</a:t>
                      </a:r>
                    </a:p>
                  </a:txBody>
                  <a:tcPr anchor="ctr" marL="76200" marR="76200" marT="50800" marB="50800">
                    <a:solidFill>
                      <a:srgbClr val="2733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Element 生态</a:t>
                      </a:r>
                    </a:p>
                  </a:txBody>
                  <a:tcPr anchor="ctr" marL="76200" marR="76200" marT="50800" marB="50800">
                    <a:solidFill>
                      <a:srgbClr val="27334D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Email</a:t>
                      </a:r>
                    </a:p>
                  </a:txBody>
                  <a:tcPr anchor="ctr" marL="76200" marR="76200" marT="50800" marB="508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625</a:t>
                      </a:r>
                    </a:p>
                  </a:txBody>
                  <a:tcPr anchor="ctr" marL="76200" marR="76200" marT="50800" marB="508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SMTP/IMAP</a:t>
                      </a:r>
                    </a:p>
                  </a:txBody>
                  <a:tcPr anchor="ctr" marL="76200" marR="76200" marT="50800" marB="50800">
                    <a:solidFill>
                      <a:srgbClr val="1E293B"/>
                    </a:solidFill>
                  </a:tcPr>
                </a:tc>
              </a:tr>
              <a:tr h="35169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SMS</a:t>
                      </a:r>
                    </a:p>
                  </a:txBody>
                  <a:tcPr anchor="ctr" marL="76200" marR="76200" marT="50800" marB="50800">
                    <a:solidFill>
                      <a:srgbClr val="2733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373</a:t>
                      </a:r>
                    </a:p>
                  </a:txBody>
                  <a:tcPr anchor="ctr" marL="76200" marR="76200" marT="50800" marB="50800">
                    <a:solidFill>
                      <a:srgbClr val="2733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短信</a:t>
                      </a:r>
                    </a:p>
                  </a:txBody>
                  <a:tcPr anchor="ctr" marL="76200" marR="76200" marT="50800" marB="50800">
                    <a:solidFill>
                      <a:srgbClr val="27334D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0" y="12801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D3EE"/>
                </a:solidFill>
                <a:latin typeface="微软雅黑"/>
              </a:defRPr>
            </a:pPr>
            <a:r>
              <a:t>消息路由流程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73736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D3EE"/>
                </a:solidFill>
                <a:latin typeface="微软雅黑"/>
              </a:defRPr>
            </a:pPr>
            <a:r>
              <a:t>1. 平台消息 → PlatformAdapter.on_message()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212848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2. GatewayRunner._handle_message()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688336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3. Hooks.pre_process() 前置钩子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163824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4. DM 配对检查 (pairing.py)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639312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5. Session 获取/创建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411480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D3EE"/>
                </a:solidFill>
                <a:latin typeface="微软雅黑"/>
              </a:defRPr>
            </a:pPr>
            <a:r>
              <a:t>6. AIAgent.run_conversation()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4590288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微软雅黑"/>
              </a:defRPr>
            </a:pPr>
            <a:r>
              <a:t>7. Hooks.post_process() 后置钩子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5065776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D3EE"/>
                </a:solidFill>
                <a:latin typeface="微软雅黑"/>
              </a:defRPr>
            </a:pPr>
            <a:r>
              <a:t>8. PlatformAdapter.send_message()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5669280"/>
            <a:ext cx="3931920" cy="640080"/>
          </a:xfrm>
          <a:prstGeom prst="round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571500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9E0B"/>
                </a:solidFill>
                <a:latin typeface="微软雅黑"/>
              </a:defRPr>
            </a:pPr>
            <a:r>
              <a:t>DM 配对机制: 未配对用户 → 返回配对码 → CLI 确认 → 后续放行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微软雅黑"/>
              </a:defRPr>
            </a:pPr>
            <a:r>
              <a:t>记忆与上下文管理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BEAFE"/>
                </a:solidFill>
                <a:latin typeface="微软雅黑"/>
              </a:defRPr>
            </a:pPr>
            <a:r>
              <a:t>MemoryManager 编排 · 插件化后端 · 8 种外部记忆 · 上下文压缩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9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微软雅黑"/>
              </a:defRPr>
            </a:pPr>
            <a:r>
              <a:t>MemoryManager 架构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719"/>
              </a:spcAft>
              <a:defRPr sz="1200">
                <a:solidFill>
                  <a:srgbClr val="CBD5E1"/>
                </a:solidFill>
                <a:latin typeface="微软雅黑"/>
              </a:defRPr>
            </a:pPr>
            <a:r>
              <a:t>▸ 内置 Provider 永远存在，不可移除</a:t>
            </a:r>
          </a:p>
          <a:p>
            <a:pPr>
              <a:lnSpc>
                <a:spcPts val="1800"/>
              </a:lnSpc>
              <a:spcAft>
                <a:spcPts val="719"/>
              </a:spcAft>
              <a:defRPr sz="1200">
                <a:solidFill>
                  <a:srgbClr val="CBD5E1"/>
                </a:solidFill>
                <a:latin typeface="微软雅黑"/>
              </a:defRPr>
            </a:pPr>
            <a:r>
              <a:t>▸ 最多 1 个外部 Provider — 防止 Schema 膨胀</a:t>
            </a:r>
          </a:p>
          <a:p>
            <a:pPr>
              <a:lnSpc>
                <a:spcPts val="1800"/>
              </a:lnSpc>
              <a:spcAft>
                <a:spcPts val="719"/>
              </a:spcAft>
              <a:defRPr sz="1200">
                <a:solidFill>
                  <a:srgbClr val="CBD5E1"/>
                </a:solidFill>
                <a:latin typeface="微软雅黑"/>
              </a:defRPr>
            </a:pPr>
            <a:r>
              <a:t>▸ 故障隔离: 一个 Provider 失败不阻塞另一个</a:t>
            </a:r>
          </a:p>
          <a:p>
            <a:pPr>
              <a:lnSpc>
                <a:spcPts val="1800"/>
              </a:lnSpc>
              <a:spcAft>
                <a:spcPts val="719"/>
              </a:spcAft>
              <a:defRPr sz="1200">
                <a:solidFill>
                  <a:srgbClr val="CBD5E1"/>
                </a:solidFill>
                <a:latin typeface="微软雅黑"/>
              </a:defRPr>
            </a:pPr>
            <a:r>
              <a:t>▸ 记忆上下文隔离: &lt;memory-context&gt; 标签防止误读</a:t>
            </a:r>
          </a:p>
          <a:p>
            <a:pPr>
              <a:lnSpc>
                <a:spcPts val="1800"/>
              </a:lnSpc>
              <a:spcAft>
                <a:spcPts val="719"/>
              </a:spcAft>
              <a:defRPr sz="1200">
                <a:solidFill>
                  <a:srgbClr val="CBD5E1"/>
                </a:solidFill>
                <a:latin typeface="微软雅黑"/>
              </a:defRPr>
            </a:pPr>
            <a:r>
              <a:t>▸ FTS5 全文搜索引擎索引所有历史会话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66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微软雅黑"/>
              </a:defRPr>
            </a:pPr>
            <a:r>
              <a:t>外部记忆插件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023360"/>
            <a:ext cx="1188720" cy="457200"/>
          </a:xfrm>
          <a:prstGeom prst="round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069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0B981"/>
                </a:solidFill>
                <a:latin typeface="Calibri"/>
              </a:defRPr>
            </a:pPr>
            <a:r>
              <a:t>Mem0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4023360"/>
            <a:ext cx="1188720" cy="457200"/>
          </a:xfrm>
          <a:prstGeom prst="round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74520" y="4069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0B981"/>
                </a:solidFill>
                <a:latin typeface="Calibri"/>
              </a:defRPr>
            </a:pPr>
            <a:r>
              <a:t>Supermemory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08960" y="4023360"/>
            <a:ext cx="1188720" cy="457200"/>
          </a:xfrm>
          <a:prstGeom prst="round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54680" y="4069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0B981"/>
                </a:solidFill>
                <a:latin typeface="Calibri"/>
              </a:defRPr>
            </a:pPr>
            <a:r>
              <a:t>Holographic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19" y="4023360"/>
            <a:ext cx="1188720" cy="457200"/>
          </a:xfrm>
          <a:prstGeom prst="round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39" y="40690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0B981"/>
                </a:solidFill>
                <a:latin typeface="Calibri"/>
              </a:defRPr>
            </a:pPr>
            <a:r>
              <a:t>RetainDB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572000"/>
            <a:ext cx="1188720" cy="457200"/>
          </a:xfrm>
          <a:prstGeom prst="round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6177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0B981"/>
                </a:solidFill>
                <a:latin typeface="Calibri"/>
              </a:defRPr>
            </a:pPr>
            <a:r>
              <a:t>Honcho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0" y="4572000"/>
            <a:ext cx="1188720" cy="457200"/>
          </a:xfrm>
          <a:prstGeom prst="round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74520" y="46177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0B981"/>
                </a:solidFill>
                <a:latin typeface="Calibri"/>
              </a:defRPr>
            </a:pPr>
            <a:r>
              <a:t>Hindsight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08960" y="4572000"/>
            <a:ext cx="1188720" cy="457200"/>
          </a:xfrm>
          <a:prstGeom prst="round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54680" y="46177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0B981"/>
                </a:solidFill>
                <a:latin typeface="Calibri"/>
              </a:defRPr>
            </a:pPr>
            <a:r>
              <a:t>Byterover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19" y="4572000"/>
            <a:ext cx="1188720" cy="457200"/>
          </a:xfrm>
          <a:prstGeom prst="round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39" y="46177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0B981"/>
                </a:solidFill>
                <a:latin typeface="Calibri"/>
              </a:defRPr>
            </a:pPr>
            <a:r>
              <a:t>OpenViking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微软雅黑"/>
              </a:defRPr>
            </a:pPr>
            <a:r>
              <a:t>上下文压缩策略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1737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微软雅黑"/>
              </a:defRPr>
            </a:pPr>
            <a:r>
              <a:t>受保护头部 (3 条消息)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103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微软雅黑"/>
              </a:defRPr>
            </a:pPr>
            <a:r>
              <a:t>待压缩中间部分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468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9E0B"/>
                </a:solidFill>
                <a:latin typeface="微软雅黑"/>
              </a:defRPr>
            </a:pPr>
            <a:r>
              <a:t>   ↓ 1. 裁剪旧工具输出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834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9E0B"/>
                </a:solidFill>
                <a:latin typeface="微软雅黑"/>
              </a:defRPr>
            </a:pPr>
            <a:r>
              <a:t>   ↓ 2. 辅助模型摘要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200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9E0B"/>
                </a:solidFill>
                <a:latin typeface="微软雅黑"/>
              </a:defRPr>
            </a:pPr>
            <a:r>
              <a:t>   ↓ 3. 迭代更新摘要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566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微软雅黑"/>
              </a:defRPr>
            </a:pPr>
            <a:r>
              <a:t>受保护尾部 (20 条消息)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931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9E0B"/>
                </a:solidFill>
                <a:latin typeface="微软雅黑"/>
              </a:defRPr>
            </a:pPr>
            <a:r>
              <a:t>   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297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微软雅黑"/>
              </a:defRPr>
            </a:pPr>
            <a:r>
              <a:t>[头部] + [压缩摘要] + [尾部]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754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472B6"/>
                </a:solidFill>
                <a:latin typeface="微软雅黑"/>
              </a:defRPr>
            </a:pPr>
            <a:r>
              <a:t>摘要质量保障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1206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30"/>
              </a:lnSpc>
              <a:spcAft>
                <a:spcPts val="660"/>
              </a:spcAft>
              <a:defRPr sz="1100">
                <a:solidFill>
                  <a:srgbClr val="CBD5E1"/>
                </a:solidFill>
                <a:latin typeface="微软雅黑"/>
              </a:defRPr>
            </a:pPr>
            <a:r>
              <a:t>· 摘要前缀隔离: [CONTEXT COMPACTION — REFERENCE ONLY]</a:t>
            </a:r>
          </a:p>
          <a:p>
            <a:pPr>
              <a:lnSpc>
                <a:spcPts val="1430"/>
              </a:lnSpc>
              <a:spcAft>
                <a:spcPts val="660"/>
              </a:spcAft>
              <a:defRPr sz="1100">
                <a:solidFill>
                  <a:srgbClr val="CBD5E1"/>
                </a:solidFill>
                <a:latin typeface="微软雅黑"/>
              </a:defRPr>
            </a:pPr>
            <a:r>
              <a:t>· 失败冷却: 摘要失败后 600 秒内不重试</a:t>
            </a:r>
          </a:p>
          <a:p>
            <a:pPr>
              <a:lnSpc>
                <a:spcPts val="1430"/>
              </a:lnSpc>
              <a:spcAft>
                <a:spcPts val="660"/>
              </a:spcAft>
              <a:defRPr sz="1100">
                <a:solidFill>
                  <a:srgbClr val="CBD5E1"/>
                </a:solidFill>
                <a:latin typeface="微软雅黑"/>
              </a:defRPr>
            </a:pPr>
            <a:r>
              <a:t>· Token 预算: summary_tokens = max(2000, min(budget, 12000))</a:t>
            </a:r>
          </a:p>
          <a:p>
            <a:pPr>
              <a:lnSpc>
                <a:spcPts val="1430"/>
              </a:lnSpc>
              <a:spcAft>
                <a:spcPts val="660"/>
              </a:spcAft>
              <a:defRPr sz="1100">
                <a:solidFill>
                  <a:srgbClr val="CBD5E1"/>
                </a:solidFill>
                <a:latin typeface="微软雅黑"/>
              </a:defRPr>
            </a:pPr>
            <a:r>
              <a:t>· 可替换引擎: config.yaml → context.engine 字段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微软雅黑"/>
              </a:defRPr>
            </a:pPr>
            <a:r>
              <a:t>CLI 与配置体系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BEAFE"/>
                </a:solidFill>
                <a:latin typeface="微软雅黑"/>
              </a:defRPr>
            </a:pPr>
            <a:r>
              <a:t>cli.py (10K行) + hermes_cli/ (47个文件) + Smart Model Routing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10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微软雅黑"/>
              </a:defRPr>
            </a:pPr>
            <a:r>
              <a:t>CLI 子命令体系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737360"/>
          <a:ext cx="5943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828800"/>
                <a:gridCol w="2103120"/>
              </a:tblGrid>
              <a:tr h="3429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1F5F9"/>
                          </a:solidFill>
                          <a:latin typeface="微软雅黑"/>
                        </a:defRPr>
                      </a:pPr>
                      <a:r>
                        <a:t>命令</a:t>
                      </a:r>
                    </a:p>
                  </a:txBody>
                  <a:tcPr anchor="ctr" marL="76200" marR="76200" marT="50800" marB="5080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1F5F9"/>
                          </a:solidFill>
                          <a:latin typeface="微软雅黑"/>
                        </a:defRPr>
                      </a:pPr>
                      <a:r>
                        <a:t>模块</a:t>
                      </a:r>
                    </a:p>
                  </a:txBody>
                  <a:tcPr anchor="ctr" marL="76200" marR="76200" marT="50800" marB="5080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1F5F9"/>
                          </a:solidFill>
                          <a:latin typeface="微软雅黑"/>
                        </a:defRPr>
                      </a:pPr>
                      <a:r>
                        <a:t>功能</a:t>
                      </a:r>
                    </a:p>
                  </a:txBody>
                  <a:tcPr anchor="ctr" marL="76200" marR="76200" marT="50800" marB="50800">
                    <a:solidFill>
                      <a:srgbClr val="3B82F6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hermes</a:t>
                      </a:r>
                    </a:p>
                  </a:txBody>
                  <a:tcPr anchor="ctr" marL="76200" marR="76200" marT="50800" marB="508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cli.py (TUI)</a:t>
                      </a:r>
                    </a:p>
                  </a:txBody>
                  <a:tcPr anchor="ctr" marL="76200" marR="76200" marT="50800" marB="508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启动交互对话</a:t>
                      </a:r>
                    </a:p>
                  </a:txBody>
                  <a:tcPr anchor="ctr" marL="76200" marR="76200" marT="50800" marB="50800">
                    <a:solidFill>
                      <a:srgbClr val="1E293B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hermes model</a:t>
                      </a:r>
                    </a:p>
                  </a:txBody>
                  <a:tcPr anchor="ctr" marL="76200" marR="76200" marT="50800" marB="50800">
                    <a:solidFill>
                      <a:srgbClr val="2733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models.py (1,933行)</a:t>
                      </a:r>
                    </a:p>
                  </a:txBody>
                  <a:tcPr anchor="ctr" marL="76200" marR="76200" marT="50800" marB="50800">
                    <a:solidFill>
                      <a:srgbClr val="2733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模型/Provider 选择</a:t>
                      </a:r>
                    </a:p>
                  </a:txBody>
                  <a:tcPr anchor="ctr" marL="76200" marR="76200" marT="50800" marB="50800">
                    <a:solidFill>
                      <a:srgbClr val="27334D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hermes tools</a:t>
                      </a:r>
                    </a:p>
                  </a:txBody>
                  <a:tcPr anchor="ctr" marL="76200" marR="76200" marT="50800" marB="508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tools_config.py</a:t>
                      </a:r>
                    </a:p>
                  </a:txBody>
                  <a:tcPr anchor="ctr" marL="76200" marR="76200" marT="50800" marB="508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工具启用/禁用</a:t>
                      </a:r>
                    </a:p>
                  </a:txBody>
                  <a:tcPr anchor="ctr" marL="76200" marR="76200" marT="50800" marB="50800">
                    <a:solidFill>
                      <a:srgbClr val="1E293B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hermes config</a:t>
                      </a:r>
                    </a:p>
                  </a:txBody>
                  <a:tcPr anchor="ctr" marL="76200" marR="76200" marT="50800" marB="50800">
                    <a:solidFill>
                      <a:srgbClr val="2733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config.py (3,306行)</a:t>
                      </a:r>
                    </a:p>
                  </a:txBody>
                  <a:tcPr anchor="ctr" marL="76200" marR="76200" marT="50800" marB="50800">
                    <a:solidFill>
                      <a:srgbClr val="2733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配置管理</a:t>
                      </a:r>
                    </a:p>
                  </a:txBody>
                  <a:tcPr anchor="ctr" marL="76200" marR="76200" marT="50800" marB="50800">
                    <a:solidFill>
                      <a:srgbClr val="27334D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hermes gateway</a:t>
                      </a:r>
                    </a:p>
                  </a:txBody>
                  <a:tcPr anchor="ctr" marL="76200" marR="76200" marT="50800" marB="508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gateway.py</a:t>
                      </a:r>
                    </a:p>
                  </a:txBody>
                  <a:tcPr anchor="ctr" marL="76200" marR="76200" marT="50800" marB="508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网关管理</a:t>
                      </a:r>
                    </a:p>
                  </a:txBody>
                  <a:tcPr anchor="ctr" marL="76200" marR="76200" marT="50800" marB="50800">
                    <a:solidFill>
                      <a:srgbClr val="1E293B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hermes setup</a:t>
                      </a:r>
                    </a:p>
                  </a:txBody>
                  <a:tcPr anchor="ctr" marL="76200" marR="76200" marT="50800" marB="50800">
                    <a:solidFill>
                      <a:srgbClr val="2733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setup.py (3,138行)</a:t>
                      </a:r>
                    </a:p>
                  </a:txBody>
                  <a:tcPr anchor="ctr" marL="76200" marR="76200" marT="50800" marB="50800">
                    <a:solidFill>
                      <a:srgbClr val="2733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初始化向导</a:t>
                      </a:r>
                    </a:p>
                  </a:txBody>
                  <a:tcPr anchor="ctr" marL="76200" marR="76200" marT="50800" marB="50800">
                    <a:solidFill>
                      <a:srgbClr val="27334D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hermes auth</a:t>
                      </a:r>
                    </a:p>
                  </a:txBody>
                  <a:tcPr anchor="ctr" marL="76200" marR="76200" marT="50800" marB="508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auth.py (3,270行)</a:t>
                      </a:r>
                    </a:p>
                  </a:txBody>
                  <a:tcPr anchor="ctr" marL="76200" marR="76200" marT="50800" marB="508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认证管理</a:t>
                      </a:r>
                    </a:p>
                  </a:txBody>
                  <a:tcPr anchor="ctr" marL="76200" marR="76200" marT="50800" marB="50800">
                    <a:solidFill>
                      <a:srgbClr val="1E293B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hermes skills</a:t>
                      </a:r>
                    </a:p>
                  </a:txBody>
                  <a:tcPr anchor="ctr" marL="76200" marR="76200" marT="50800" marB="50800">
                    <a:solidFill>
                      <a:srgbClr val="2733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skills_config.py</a:t>
                      </a:r>
                    </a:p>
                  </a:txBody>
                  <a:tcPr anchor="ctr" marL="76200" marR="76200" marT="50800" marB="50800">
                    <a:solidFill>
                      <a:srgbClr val="2733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技能管理</a:t>
                      </a:r>
                    </a:p>
                  </a:txBody>
                  <a:tcPr anchor="ctr" marL="76200" marR="76200" marT="50800" marB="50800">
                    <a:solidFill>
                      <a:srgbClr val="27334D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hermes cron</a:t>
                      </a:r>
                    </a:p>
                  </a:txBody>
                  <a:tcPr anchor="ctr" marL="76200" marR="76200" marT="50800" marB="508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cron.py</a:t>
                      </a:r>
                    </a:p>
                  </a:txBody>
                  <a:tcPr anchor="ctr" marL="76200" marR="76200" marT="50800" marB="508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定时任务</a:t>
                      </a:r>
                    </a:p>
                  </a:txBody>
                  <a:tcPr anchor="ctr" marL="76200" marR="76200" marT="50800" marB="50800">
                    <a:solidFill>
                      <a:srgbClr val="1E293B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hermes doctor</a:t>
                      </a:r>
                    </a:p>
                  </a:txBody>
                  <a:tcPr anchor="ctr" marL="76200" marR="76200" marT="50800" marB="50800">
                    <a:solidFill>
                      <a:srgbClr val="2733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doctor.py</a:t>
                      </a:r>
                    </a:p>
                  </a:txBody>
                  <a:tcPr anchor="ctr" marL="76200" marR="76200" marT="50800" marB="50800">
                    <a:solidFill>
                      <a:srgbClr val="2733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诊断问题</a:t>
                      </a:r>
                    </a:p>
                  </a:txBody>
                  <a:tcPr anchor="ctr" marL="76200" marR="76200" marT="50800" marB="50800">
                    <a:solidFill>
                      <a:srgbClr val="27334D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hermes claw migrate</a:t>
                      </a:r>
                    </a:p>
                  </a:txBody>
                  <a:tcPr anchor="ctr" marL="76200" marR="76200" marT="50800" marB="508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claw.py</a:t>
                      </a:r>
                    </a:p>
                  </a:txBody>
                  <a:tcPr anchor="ctr" marL="76200" marR="76200" marT="50800" marB="508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OpenClaw 迁移</a:t>
                      </a:r>
                    </a:p>
                  </a:txBody>
                  <a:tcPr anchor="ctr" marL="76200" marR="76200" marT="50800" marB="50800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0" y="12801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D3EE"/>
                </a:solidFill>
                <a:latin typeface="微软雅黑"/>
              </a:defRPr>
            </a:pPr>
            <a:r>
              <a:t>配置加载优先级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737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D3EE"/>
                </a:solidFill>
                <a:latin typeface="微软雅黑"/>
              </a:defRPr>
            </a:pPr>
            <a:r>
              <a:t>1. 命令行参数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103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D3EE"/>
                </a:solidFill>
                <a:latin typeface="微软雅黑"/>
              </a:defRPr>
            </a:pPr>
            <a:r>
              <a:t>2. 环境变量 (HERMES_*)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468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D3EE"/>
                </a:solidFill>
                <a:latin typeface="微软雅黑"/>
              </a:defRPr>
            </a:pPr>
            <a:r>
              <a:t>3. ~/.hermes/config.yaml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834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/>
              </a:defRPr>
            </a:pPr>
            <a:r>
              <a:t>4. ~/.hermes/.env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200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/>
              </a:defRPr>
            </a:pPr>
            <a:r>
              <a:t>5. 项目根目录 .env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566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/>
              </a:defRPr>
            </a:pPr>
            <a:r>
              <a:t>6. 内置默认值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023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微软雅黑"/>
              </a:defRPr>
            </a:pPr>
            <a:r>
              <a:t>Smart Model Routing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0" y="4480560"/>
            <a:ext cx="4572000" cy="1828800"/>
          </a:xfrm>
          <a:prstGeom prst="round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0" y="4572000"/>
            <a:ext cx="4206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90"/>
              </a:lnSpc>
              <a:spcAft>
                <a:spcPts val="400"/>
              </a:spcAft>
              <a:defRPr sz="1300" b="1">
                <a:solidFill>
                  <a:srgbClr val="F59E0B"/>
                </a:solidFill>
                <a:latin typeface="微软雅黑"/>
              </a:defRPr>
            </a:pPr>
            <a:r>
              <a:t>双模型策略</a:t>
            </a:r>
          </a:p>
          <a:p>
            <a:pPr>
              <a:lnSpc>
                <a:spcPts val="1430"/>
              </a:lnSpc>
              <a:spcAft>
                <a:spcPts val="400"/>
              </a:spcAft>
              <a:defRPr sz="1100" b="0">
                <a:solidFill>
                  <a:srgbClr val="CBD5E1"/>
                </a:solidFill>
                <a:latin typeface="微软雅黑"/>
              </a:defRPr>
            </a:pPr>
            <a:r>
              <a:t>简单问候/闲聊 → cheap 模型 (Haiku)</a:t>
            </a:r>
          </a:p>
          <a:p>
            <a:pPr>
              <a:lnSpc>
                <a:spcPts val="1430"/>
              </a:lnSpc>
              <a:spcAft>
                <a:spcPts val="400"/>
              </a:spcAft>
              <a:defRPr sz="1100" b="0">
                <a:solidFill>
                  <a:srgbClr val="CBD5E1"/>
                </a:solidFill>
                <a:latin typeface="微软雅黑"/>
              </a:defRPr>
            </a:pPr>
            <a:r>
              <a:t>复杂编码/调试 → strong 模型 (Sonnet)</a:t>
            </a:r>
          </a:p>
          <a:p>
            <a:pPr>
              <a:lnSpc>
                <a:spcPts val="780"/>
              </a:lnSpc>
              <a:spcAft>
                <a:spcPts val="400"/>
              </a:spcAft>
              <a:defRPr sz="600" b="0">
                <a:solidFill>
                  <a:srgbClr val="94A3B8"/>
                </a:solidFill>
                <a:latin typeface="微软雅黑"/>
              </a:defRPr>
            </a:pPr>
          </a:p>
          <a:p>
            <a:pPr>
              <a:lnSpc>
                <a:spcPts val="1300"/>
              </a:lnSpc>
              <a:spcAft>
                <a:spcPts val="4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关键词触发: debug, implement, refactor,</a:t>
            </a:r>
          </a:p>
          <a:p>
            <a:pPr>
              <a:lnSpc>
                <a:spcPts val="1300"/>
              </a:lnSpc>
              <a:spcAft>
                <a:spcPts val="4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analyze, architecture, design, terminal...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微软雅黑"/>
              </a:defRPr>
            </a:pPr>
            <a:r>
              <a:t>插件与 ACP 适配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BEAFE"/>
                </a:solidFill>
                <a:latin typeface="微软雅黑"/>
              </a:defRPr>
            </a:pPr>
            <a:r>
              <a:t>插件自动发现 · ACP 协议 · MCP 集成 · 11 种模型解析器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11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微软雅黑"/>
              </a:defRPr>
            </a:pPr>
            <a:r>
              <a:t>插件系统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79"/>
              </a:lnSpc>
              <a:spcAft>
                <a:spcPts val="719"/>
              </a:spcAft>
              <a:defRPr sz="1200">
                <a:solidFill>
                  <a:srgbClr val="CBD5E1"/>
                </a:solidFill>
                <a:latin typeface="微软雅黑"/>
              </a:defRPr>
            </a:pPr>
            <a:r>
              <a:t>→ 1. 扫描 plugins/ 目录</a:t>
            </a:r>
          </a:p>
          <a:p>
            <a:pPr>
              <a:lnSpc>
                <a:spcPts val="1679"/>
              </a:lnSpc>
              <a:spcAft>
                <a:spcPts val="719"/>
              </a:spcAft>
              <a:defRPr sz="1200">
                <a:solidFill>
                  <a:srgbClr val="CBD5E1"/>
                </a:solidFill>
                <a:latin typeface="微软雅黑"/>
              </a:defRPr>
            </a:pPr>
            <a:r>
              <a:t>→ 2. 读取 plugin.yaml 元数据</a:t>
            </a:r>
          </a:p>
          <a:p>
            <a:pPr>
              <a:lnSpc>
                <a:spcPts val="1679"/>
              </a:lnSpc>
              <a:spcAft>
                <a:spcPts val="719"/>
              </a:spcAft>
              <a:defRPr sz="1200">
                <a:solidFill>
                  <a:srgbClr val="CBD5E1"/>
                </a:solidFill>
                <a:latin typeface="微软雅黑"/>
              </a:defRPr>
            </a:pPr>
            <a:r>
              <a:t>→ 3. 配置中指定激活插件</a:t>
            </a:r>
          </a:p>
          <a:p>
            <a:pPr>
              <a:lnSpc>
                <a:spcPts val="1679"/>
              </a:lnSpc>
              <a:spcAft>
                <a:spcPts val="719"/>
              </a:spcAft>
              <a:defRPr sz="1200">
                <a:solidFill>
                  <a:srgbClr val="CBD5E1"/>
                </a:solidFill>
                <a:latin typeface="微软雅黑"/>
              </a:defRPr>
            </a:pPr>
            <a:r>
              <a:t>→ 4. import 插件模块</a:t>
            </a:r>
          </a:p>
          <a:p>
            <a:pPr>
              <a:lnSpc>
                <a:spcPts val="1679"/>
              </a:lnSpc>
              <a:spcAft>
                <a:spcPts val="719"/>
              </a:spcAft>
              <a:defRPr sz="1200">
                <a:solidFill>
                  <a:srgbClr val="CBD5E1"/>
                </a:solidFill>
                <a:latin typeface="微软雅黑"/>
              </a:defRPr>
            </a:pPr>
            <a:r>
              <a:t>→ 5. 调用 register() 注册</a:t>
            </a:r>
          </a:p>
          <a:p>
            <a:pPr>
              <a:lnSpc>
                <a:spcPts val="1679"/>
              </a:lnSpc>
              <a:spcAft>
                <a:spcPts val="719"/>
              </a:spcAft>
              <a:defRPr sz="1200">
                <a:solidFill>
                  <a:srgbClr val="CBD5E1"/>
                </a:solidFill>
                <a:latin typeface="微软雅黑"/>
              </a:defRPr>
            </a:pPr>
            <a:r>
              <a:t>→ 6. 注入到对应管理器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微软雅黑"/>
              </a:defRPr>
            </a:pPr>
            <a:r>
              <a:t>插件类型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976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79"/>
              </a:lnSpc>
              <a:spcAft>
                <a:spcPts val="719"/>
              </a:spcAft>
              <a:defRPr sz="1200">
                <a:solidFill>
                  <a:srgbClr val="CBD5E1"/>
                </a:solidFill>
                <a:latin typeface="微软雅黑"/>
              </a:defRPr>
            </a:pPr>
            <a:r>
              <a:t>● context_engine/ → 替换默认压缩引擎</a:t>
            </a:r>
          </a:p>
          <a:p>
            <a:pPr>
              <a:lnSpc>
                <a:spcPts val="1679"/>
              </a:lnSpc>
              <a:spcAft>
                <a:spcPts val="719"/>
              </a:spcAft>
              <a:defRPr sz="1200">
                <a:solidFill>
                  <a:srgbClr val="CBD5E1"/>
                </a:solidFill>
                <a:latin typeface="微软雅黑"/>
              </a:defRPr>
            </a:pPr>
            <a:r>
              <a:t>● memory/ → 替换/增强记忆后端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微软雅黑"/>
              </a:defRPr>
            </a:pPr>
            <a:r>
              <a:t>ACP vs MCP 定位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737360"/>
            <a:ext cx="5029200" cy="1645920"/>
          </a:xfrm>
          <a:prstGeom prst="round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737360"/>
            <a:ext cx="50292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8288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微软雅黑"/>
              </a:defRPr>
            </a:pPr>
            <a:r>
              <a:t>ACP (Agent Client Protocol)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19456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30"/>
              </a:lnSpc>
              <a:spcAft>
                <a:spcPts val="660"/>
              </a:spcAft>
              <a:defRPr sz="1100">
                <a:solidFill>
                  <a:srgbClr val="CBD5E1"/>
                </a:solidFill>
                <a:latin typeface="微软雅黑"/>
              </a:defRPr>
            </a:pPr>
            <a:r>
              <a:t>· Hermes 作为服务端，被其他系统调用</a:t>
            </a:r>
          </a:p>
          <a:p>
            <a:pPr>
              <a:lnSpc>
                <a:spcPts val="1430"/>
              </a:lnSpc>
              <a:spcAft>
                <a:spcPts val="660"/>
              </a:spcAft>
              <a:defRPr sz="1100">
                <a:solidFill>
                  <a:srgbClr val="CBD5E1"/>
                </a:solidFill>
                <a:latin typeface="微软雅黑"/>
              </a:defRPr>
            </a:pPr>
            <a:r>
              <a:t>· 支持: initialize / new_session / prompt / fork</a:t>
            </a:r>
          </a:p>
          <a:p>
            <a:pPr>
              <a:lnSpc>
                <a:spcPts val="1430"/>
              </a:lnSpc>
              <a:spcAft>
                <a:spcPts val="660"/>
              </a:spcAft>
              <a:defRPr sz="1100">
                <a:solidFill>
                  <a:srgbClr val="CBD5E1"/>
                </a:solidFill>
                <a:latin typeface="微软雅黑"/>
              </a:defRPr>
            </a:pPr>
            <a:r>
              <a:t>· 用途: IDE 插件、编排系统集成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566160"/>
            <a:ext cx="5029200" cy="1645920"/>
          </a:xfrm>
          <a:prstGeom prst="round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3566160"/>
            <a:ext cx="50292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36576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微软雅黑"/>
              </a:defRPr>
            </a:pPr>
            <a:r>
              <a:t>MCP (Model Context Protocol)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02336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30"/>
              </a:lnSpc>
              <a:spcAft>
                <a:spcPts val="660"/>
              </a:spcAft>
              <a:defRPr sz="1100">
                <a:solidFill>
                  <a:srgbClr val="CBD5E1"/>
                </a:solidFill>
                <a:latin typeface="微软雅黑"/>
              </a:defRPr>
            </a:pPr>
            <a:r>
              <a:t>· Hermes 作为客户端，调用外部工具</a:t>
            </a:r>
          </a:p>
          <a:p>
            <a:pPr>
              <a:lnSpc>
                <a:spcPts val="1430"/>
              </a:lnSpc>
              <a:spcAft>
                <a:spcPts val="660"/>
              </a:spcAft>
              <a:defRPr sz="1100">
                <a:solidFill>
                  <a:srgbClr val="CBD5E1"/>
                </a:solidFill>
                <a:latin typeface="微软雅黑"/>
              </a:defRPr>
            </a:pPr>
            <a:r>
              <a:t>· 传输: stdio (本地) / SSE (远程)</a:t>
            </a:r>
          </a:p>
          <a:p>
            <a:pPr>
              <a:lnSpc>
                <a:spcPts val="1430"/>
              </a:lnSpc>
              <a:spcAft>
                <a:spcPts val="660"/>
              </a:spcAft>
              <a:defRPr sz="1100">
                <a:solidFill>
                  <a:srgbClr val="CBD5E1"/>
                </a:solidFill>
                <a:latin typeface="微软雅黑"/>
              </a:defRPr>
            </a:pPr>
            <a:r>
              <a:t>· 支持: OAuth 2.0 认证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303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472B6"/>
                </a:solidFill>
                <a:latin typeface="微软雅黑"/>
              </a:defRPr>
            </a:pPr>
            <a:r>
              <a:t>11 种模型工具调用解析器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760720"/>
            <a:ext cx="1783080" cy="347472"/>
          </a:xfrm>
          <a:prstGeom prst="round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788152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472B6"/>
                </a:solidFill>
                <a:latin typeface="Calibri"/>
              </a:defRPr>
            </a:pPr>
            <a:r>
              <a:t>Hermes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68880" y="5760720"/>
            <a:ext cx="1783080" cy="347472"/>
          </a:xfrm>
          <a:prstGeom prst="round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5788152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472B6"/>
                </a:solidFill>
                <a:latin typeface="Calibri"/>
              </a:defRPr>
            </a:pPr>
            <a:r>
              <a:t>Llama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5760720"/>
            <a:ext cx="1783080" cy="347472"/>
          </a:xfrm>
          <a:prstGeom prst="round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5788152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472B6"/>
                </a:solidFill>
                <a:latin typeface="Calibri"/>
              </a:defRPr>
            </a:pPr>
            <a:r>
              <a:t>Qwen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5760720"/>
            <a:ext cx="1783080" cy="347472"/>
          </a:xfrm>
          <a:prstGeom prst="round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5788152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472B6"/>
                </a:solidFill>
                <a:latin typeface="Calibri"/>
              </a:defRPr>
            </a:pPr>
            <a:r>
              <a:t>Qwen3-Coder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5760720"/>
            <a:ext cx="1783080" cy="347472"/>
          </a:xfrm>
          <a:prstGeom prst="round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20" y="5788152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472B6"/>
                </a:solidFill>
                <a:latin typeface="Calibri"/>
              </a:defRPr>
            </a:pPr>
            <a:r>
              <a:t>DeepSeek V3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149840" y="5760720"/>
            <a:ext cx="1783080" cy="347472"/>
          </a:xfrm>
          <a:prstGeom prst="round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95560" y="5788152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472B6"/>
                </a:solidFill>
                <a:latin typeface="Calibri"/>
              </a:defRPr>
            </a:pPr>
            <a:r>
              <a:t>DeepSeek V3.1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6172200"/>
            <a:ext cx="1783080" cy="347472"/>
          </a:xfrm>
          <a:prstGeom prst="round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6199632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472B6"/>
                </a:solidFill>
                <a:latin typeface="Calibri"/>
              </a:defRPr>
            </a:pPr>
            <a:r>
              <a:t>GLM-4.5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468880" y="6172200"/>
            <a:ext cx="1783080" cy="347472"/>
          </a:xfrm>
          <a:prstGeom prst="round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14600" y="6199632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472B6"/>
                </a:solidFill>
                <a:latin typeface="Calibri"/>
              </a:defRPr>
            </a:pPr>
            <a:r>
              <a:t>GLM-4.7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89120" y="6172200"/>
            <a:ext cx="1783080" cy="347472"/>
          </a:xfrm>
          <a:prstGeom prst="round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34840" y="6199632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472B6"/>
                </a:solidFill>
                <a:latin typeface="Calibri"/>
              </a:defRPr>
            </a:pPr>
            <a:r>
              <a:t>Kimi K2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09360" y="6172200"/>
            <a:ext cx="1783080" cy="347472"/>
          </a:xfrm>
          <a:prstGeom prst="round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5080" y="6199632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472B6"/>
                </a:solidFill>
                <a:latin typeface="Calibri"/>
              </a:defRPr>
            </a:pPr>
            <a:r>
              <a:t>Mistral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600" y="6172200"/>
            <a:ext cx="1783080" cy="347472"/>
          </a:xfrm>
          <a:prstGeom prst="round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75320" y="6199632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472B6"/>
                </a:solidFill>
                <a:latin typeface="Calibri"/>
              </a:defRPr>
            </a:pPr>
            <a:r>
              <a:t>LongCat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微软雅黑"/>
              </a:defRPr>
            </a:pPr>
            <a:r>
              <a:t>调度与自动化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BEAFE"/>
                </a:solidFill>
                <a:latin typeface="微软雅黑"/>
              </a:defRPr>
            </a:pPr>
            <a:r>
              <a:t>Cron 定时调度 · 委托子 Agent · RL 训练环境 · 批量运行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12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微软雅黑"/>
              </a:defRPr>
            </a:pPr>
            <a:r>
              <a:t>Cron 调度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719"/>
              </a:spcAft>
              <a:defRPr sz="1200">
                <a:solidFill>
                  <a:srgbClr val="CBD5E1"/>
                </a:solidFill>
                <a:latin typeface="微软雅黑"/>
              </a:defRPr>
            </a:pPr>
            <a:r>
              <a:t>● 每 60 秒 tick 检查到期作业</a:t>
            </a:r>
          </a:p>
          <a:p>
            <a:pPr>
              <a:lnSpc>
                <a:spcPts val="1800"/>
              </a:lnSpc>
              <a:spcAft>
                <a:spcPts val="719"/>
              </a:spcAft>
              <a:defRPr sz="1200">
                <a:solidFill>
                  <a:srgbClr val="CBD5E1"/>
                </a:solidFill>
                <a:latin typeface="微软雅黑"/>
              </a:defRPr>
            </a:pPr>
            <a:r>
              <a:t>● 文件锁防止并发执行</a:t>
            </a:r>
          </a:p>
          <a:p>
            <a:pPr>
              <a:lnSpc>
                <a:spcPts val="1800"/>
              </a:lnSpc>
              <a:spcAft>
                <a:spcPts val="719"/>
              </a:spcAft>
              <a:defRPr sz="1200">
                <a:solidFill>
                  <a:srgbClr val="CBD5E1"/>
                </a:solidFill>
                <a:latin typeface="微软雅黑"/>
              </a:defRPr>
            </a:pPr>
            <a:r>
              <a:t>● 自然语言定义定时任务</a:t>
            </a:r>
          </a:p>
          <a:p>
            <a:pPr>
              <a:lnSpc>
                <a:spcPts val="1800"/>
              </a:lnSpc>
              <a:spcAft>
                <a:spcPts val="719"/>
              </a:spcAft>
              <a:defRPr sz="1200">
                <a:solidFill>
                  <a:srgbClr val="CBD5E1"/>
                </a:solidFill>
                <a:latin typeface="微软雅黑"/>
              </a:defRPr>
            </a:pPr>
            <a:r>
              <a:t>● 静默标记: [SILENT] 仅保存</a:t>
            </a:r>
          </a:p>
          <a:p>
            <a:pPr>
              <a:lnSpc>
                <a:spcPts val="1800"/>
              </a:lnSpc>
              <a:spcAft>
                <a:spcPts val="719"/>
              </a:spcAft>
              <a:defRPr sz="1200">
                <a:solidFill>
                  <a:srgbClr val="CBD5E1"/>
                </a:solidFill>
                <a:latin typeface="微软雅黑"/>
              </a:defRPr>
            </a:pPr>
            <a:r>
              <a:t>● 支持 17+ 投递平台</a:t>
            </a:r>
          </a:p>
          <a:p>
            <a:pPr>
              <a:lnSpc>
                <a:spcPts val="1800"/>
              </a:lnSpc>
              <a:spcAft>
                <a:spcPts val="719"/>
              </a:spcAft>
              <a:defRPr sz="1200">
                <a:solidFill>
                  <a:srgbClr val="CBD5E1"/>
                </a:solidFill>
                <a:latin typeface="微软雅黑"/>
              </a:defRPr>
            </a:pPr>
            <a:r>
              <a:t>● jobs.json 持久化存储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280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微软雅黑"/>
              </a:defRPr>
            </a:pPr>
            <a:r>
              <a:t>委托子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73736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719"/>
              </a:spcAft>
              <a:defRPr sz="1200">
                <a:solidFill>
                  <a:srgbClr val="CBD5E1"/>
                </a:solidFill>
                <a:latin typeface="微软雅黑"/>
              </a:defRPr>
            </a:pPr>
            <a:r>
              <a:t>● 隔离上下文 (独立对话历史)</a:t>
            </a:r>
          </a:p>
          <a:p>
            <a:pPr>
              <a:lnSpc>
                <a:spcPts val="1800"/>
              </a:lnSpc>
              <a:spcAft>
                <a:spcPts val="719"/>
              </a:spcAft>
              <a:defRPr sz="1200">
                <a:solidFill>
                  <a:srgbClr val="CBD5E1"/>
                </a:solidFill>
                <a:latin typeface="微软雅黑"/>
              </a:defRPr>
            </a:pPr>
            <a:r>
              <a:t>● 独立终端会话</a:t>
            </a:r>
          </a:p>
          <a:p>
            <a:pPr>
              <a:lnSpc>
                <a:spcPts val="1800"/>
              </a:lnSpc>
              <a:spcAft>
                <a:spcPts val="719"/>
              </a:spcAft>
              <a:defRPr sz="1200">
                <a:solidFill>
                  <a:srgbClr val="CBD5E1"/>
                </a:solidFill>
                <a:latin typeface="微软雅黑"/>
              </a:defRPr>
            </a:pPr>
            <a:r>
              <a:t>● 受限工具集 (禁递归/记忆/消息)</a:t>
            </a:r>
          </a:p>
          <a:p>
            <a:pPr>
              <a:lnSpc>
                <a:spcPts val="1800"/>
              </a:lnSpc>
              <a:spcAft>
                <a:spcPts val="719"/>
              </a:spcAft>
              <a:defRPr sz="1200">
                <a:solidFill>
                  <a:srgbClr val="CBD5E1"/>
                </a:solidFill>
                <a:latin typeface="微软雅黑"/>
              </a:defRPr>
            </a:pPr>
            <a:r>
              <a:t>● ThreadPoolExecutor 并行执行</a:t>
            </a:r>
          </a:p>
          <a:p>
            <a:pPr>
              <a:lnSpc>
                <a:spcPts val="1800"/>
              </a:lnSpc>
              <a:spcAft>
                <a:spcPts val="719"/>
              </a:spcAft>
              <a:defRPr sz="1200">
                <a:solidFill>
                  <a:srgbClr val="CBD5E1"/>
                </a:solidFill>
                <a:latin typeface="微软雅黑"/>
              </a:defRPr>
            </a:pPr>
            <a:r>
              <a:t>● 最大并发: 默认 3 (可配置)</a:t>
            </a:r>
          </a:p>
          <a:p>
            <a:pPr>
              <a:lnSpc>
                <a:spcPts val="1800"/>
              </a:lnSpc>
              <a:spcAft>
                <a:spcPts val="719"/>
              </a:spcAft>
              <a:defRPr sz="1200">
                <a:solidFill>
                  <a:srgbClr val="CBD5E1"/>
                </a:solidFill>
                <a:latin typeface="微软雅黑"/>
              </a:defRPr>
            </a:pPr>
            <a:r>
              <a:t>● 最大嵌套深度: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微软雅黑"/>
              </a:defRPr>
            </a:pPr>
            <a:r>
              <a:t>RL 训练环境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173736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719"/>
              </a:spcAft>
              <a:defRPr sz="1200">
                <a:solidFill>
                  <a:srgbClr val="CBD5E1"/>
                </a:solidFill>
                <a:latin typeface="微软雅黑"/>
              </a:defRPr>
            </a:pPr>
            <a:r>
              <a:t>● Atropos RL 训练框架集成</a:t>
            </a:r>
          </a:p>
          <a:p>
            <a:pPr>
              <a:lnSpc>
                <a:spcPts val="1800"/>
              </a:lnSpc>
              <a:spcAft>
                <a:spcPts val="719"/>
              </a:spcAft>
              <a:defRPr sz="1200">
                <a:solidFill>
                  <a:srgbClr val="CBD5E1"/>
                </a:solidFill>
                <a:latin typeface="微软雅黑"/>
              </a:defRPr>
            </a:pPr>
            <a:r>
              <a:t>● SWE-bench 自动化评估</a:t>
            </a:r>
          </a:p>
          <a:p>
            <a:pPr>
              <a:lnSpc>
                <a:spcPts val="1800"/>
              </a:lnSpc>
              <a:spcAft>
                <a:spcPts val="719"/>
              </a:spcAft>
              <a:defRPr sz="1200">
                <a:solidFill>
                  <a:srgbClr val="CBD5E1"/>
                </a:solidFill>
                <a:latin typeface="微软雅黑"/>
              </a:defRPr>
            </a:pPr>
            <a:r>
              <a:t>● TerminalBench v2 基准测试</a:t>
            </a:r>
          </a:p>
          <a:p>
            <a:pPr>
              <a:lnSpc>
                <a:spcPts val="1800"/>
              </a:lnSpc>
              <a:spcAft>
                <a:spcPts val="719"/>
              </a:spcAft>
              <a:defRPr sz="1200">
                <a:solidFill>
                  <a:srgbClr val="CBD5E1"/>
                </a:solidFill>
                <a:latin typeface="微软雅黑"/>
              </a:defRPr>
            </a:pPr>
            <a:r>
              <a:t>● 批量轨迹生成 (batch_runner.py)</a:t>
            </a:r>
          </a:p>
          <a:p>
            <a:pPr>
              <a:lnSpc>
                <a:spcPts val="1800"/>
              </a:lnSpc>
              <a:spcAft>
                <a:spcPts val="719"/>
              </a:spcAft>
              <a:defRPr sz="1200">
                <a:solidFill>
                  <a:srgbClr val="CBD5E1"/>
                </a:solidFill>
                <a:latin typeface="微软雅黑"/>
              </a:defRPr>
            </a:pPr>
            <a:r>
              <a:t>● 轨迹压缩 (trajectory_compressor.py)</a:t>
            </a:r>
          </a:p>
          <a:p>
            <a:pPr>
              <a:lnSpc>
                <a:spcPts val="1800"/>
              </a:lnSpc>
              <a:spcAft>
                <a:spcPts val="719"/>
              </a:spcAft>
              <a:defRPr sz="1200">
                <a:solidFill>
                  <a:srgbClr val="CBD5E1"/>
                </a:solidFill>
                <a:latin typeface="微软雅黑"/>
              </a:defRPr>
            </a:pPr>
            <a:r>
              <a:t>● 可复用 Agent Loop (agent_loop.py)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029200"/>
            <a:ext cx="11247120" cy="1188720"/>
          </a:xfrm>
          <a:prstGeom prst="round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12064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400"/>
              </a:spcAft>
              <a:defRPr sz="1400" b="1">
                <a:solidFill>
                  <a:srgbClr val="EF4444"/>
                </a:solidFill>
                <a:latin typeface="微软雅黑"/>
              </a:defRPr>
            </a:pPr>
            <a:r>
              <a:t>安全边界 — DELEGATE_BLOCKED_TOOLS</a:t>
            </a:r>
          </a:p>
          <a:p>
            <a:pPr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94A3B8"/>
                </a:solidFill>
                <a:latin typeface="微软雅黑"/>
              </a:defRPr>
            </a:pPr>
            <a:r>
              <a:t>delegate_task (禁止递归) · clarify (禁止用户交互) · memory (禁止写共享记忆) · send_message (禁止跨平台) · execute_code (应逐步推理)</a:t>
            </a:r>
          </a:p>
          <a:p>
            <a:pPr>
              <a:lnSpc>
                <a:spcPts val="1560"/>
              </a:lnSpc>
              <a:spcAft>
                <a:spcPts val="400"/>
              </a:spcAft>
              <a:defRPr sz="1200" b="0">
                <a:solidFill>
                  <a:srgbClr val="94A3B8"/>
                </a:solidFill>
                <a:latin typeface="微软雅黑"/>
              </a:defRPr>
            </a:pPr>
            <a:r>
              <a:t>全局工具线程池: 默认 128 workers，运行时可动态调整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微软雅黑"/>
              </a:defRPr>
            </a:pPr>
            <a:r>
              <a:t>安全策略纵深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BEAFE"/>
                </a:solidFill>
                <a:latin typeface="微软雅黑"/>
              </a:defRPr>
            </a:pPr>
            <a:r>
              <a:t>输入防护 · 执行防护 · 输出防护 — 三层安全防线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13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3657600" cy="4572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1F5F9"/>
                </a:solidFill>
                <a:latin typeface="微软雅黑"/>
              </a:defRPr>
            </a:pPr>
            <a:r>
              <a:t>输入防护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920240"/>
            <a:ext cx="3657600" cy="1188720"/>
          </a:xfrm>
          <a:prstGeom prst="round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920240"/>
            <a:ext cx="50800" cy="1188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0116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微软雅黑"/>
              </a:defRPr>
            </a:pPr>
            <a:r>
              <a:t>Prompt 注入扫描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317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10+ 威胁模式匹配</a:t>
            </a:r>
            <a:br/>
            <a:r>
              <a:t>不可见 Unicode 字符检测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291840"/>
            <a:ext cx="3657600" cy="1188720"/>
          </a:xfrm>
          <a:prstGeom prst="round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291840"/>
            <a:ext cx="50800" cy="1188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3832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微软雅黑"/>
              </a:defRPr>
            </a:pPr>
            <a:r>
              <a:t>上下文文件扫描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7033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AGENTS.md / SOUL.md 加载前扫描</a:t>
            </a:r>
            <a:br/>
            <a:r>
              <a:t>替换为警告文本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4663440"/>
            <a:ext cx="3657600" cy="1188720"/>
          </a:xfrm>
          <a:prstGeom prst="round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4663440"/>
            <a:ext cx="50800" cy="1188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7548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微软雅黑"/>
              </a:defRPr>
            </a:pPr>
            <a:r>
              <a:t>URL 安全检查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0749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恶意域名黑名单</a:t>
            </a:r>
            <a:br/>
            <a:r>
              <a:t>私有 IP 检测 (SSRF 防护)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1280160"/>
            <a:ext cx="365760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13258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1F5F9"/>
                </a:solidFill>
                <a:latin typeface="微软雅黑"/>
              </a:defRPr>
            </a:pPr>
            <a:r>
              <a:t>执行防护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1920240"/>
            <a:ext cx="3657600" cy="1188720"/>
          </a:xfrm>
          <a:prstGeom prst="round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80" y="1920240"/>
            <a:ext cx="50800" cy="1188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0" y="20116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微软雅黑"/>
              </a:defRPr>
            </a:pPr>
            <a:r>
              <a:t>命令审批系统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23317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allow / ask / deny 三种模式</a:t>
            </a:r>
            <a:br/>
            <a:r>
              <a:t>10+ 危险命令模式匹配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80" y="3291840"/>
            <a:ext cx="3657600" cy="1188720"/>
          </a:xfrm>
          <a:prstGeom prst="round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97680" y="3291840"/>
            <a:ext cx="50800" cy="1188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0" y="33832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微软雅黑"/>
              </a:defRPr>
            </a:pPr>
            <a:r>
              <a:t>沙箱隔离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37033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6 种后端 (Docker/Modal/SSH/...)</a:t>
            </a:r>
            <a:br/>
            <a:r>
              <a:t>容器默认无网络访问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0" y="4663440"/>
            <a:ext cx="3657600" cy="1188720"/>
          </a:xfrm>
          <a:prstGeom prst="round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97680" y="4663440"/>
            <a:ext cx="50800" cy="1188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60" y="47548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微软雅黑"/>
              </a:defRPr>
            </a:pPr>
            <a:r>
              <a:t>工具限制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50749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子 Agent 受限工具集</a:t>
            </a:r>
            <a:br/>
            <a:r>
              <a:t>最大嵌套深度 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0" y="1280160"/>
            <a:ext cx="3657600" cy="457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40" y="13258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1F5F9"/>
                </a:solidFill>
                <a:latin typeface="微软雅黑"/>
              </a:defRPr>
            </a:pPr>
            <a:r>
              <a:t>输出防护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0" y="1920240"/>
            <a:ext cx="3657600" cy="1188720"/>
          </a:xfrm>
          <a:prstGeom prst="round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29600" y="1920240"/>
            <a:ext cx="50800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0" y="20116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微软雅黑"/>
              </a:defRPr>
            </a:pPr>
            <a:r>
              <a:t>路径安全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23317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realpath 校验</a:t>
            </a:r>
            <a:br/>
            <a:r>
              <a:t>工作目录限制 + 二次确认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600" y="3291840"/>
            <a:ext cx="3657600" cy="1188720"/>
          </a:xfrm>
          <a:prstGeom prst="round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229600" y="3291840"/>
            <a:ext cx="50800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80" y="33832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微软雅黑"/>
              </a:defRPr>
            </a:pPr>
            <a:r>
              <a:t>凭证保护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37033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API Key 加密存储</a:t>
            </a:r>
            <a:br/>
            <a:r>
              <a:t>Key 池轮转避免限流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29600" y="4663440"/>
            <a:ext cx="3657600" cy="1188720"/>
          </a:xfrm>
          <a:prstGeom prst="round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229600" y="4663440"/>
            <a:ext cx="50800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12480" y="47548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微软雅黑"/>
              </a:defRPr>
            </a:pPr>
            <a:r>
              <a:t>技能安全扫描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0" y="50749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安装前扫描恶意代码</a:t>
            </a:r>
            <a:br/>
            <a:r>
              <a:t>网络外传 / 文件破坏检测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6035040"/>
            <a:ext cx="11247120" cy="548640"/>
          </a:xfrm>
          <a:prstGeom prst="roundRect">
            <a:avLst/>
          </a:prstGeom>
          <a:solidFill>
            <a:srgbClr val="27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60807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4444"/>
                </a:solidFill>
                <a:latin typeface="微软雅黑"/>
              </a:defRPr>
            </a:pPr>
            <a:r>
              <a:t>DM 配对安全: 用户发消息 → 检查配对状态 → 未配对返回配对码 → CLI 确认 → 后续放行  |  Tirith 安全框架集成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微软雅黑"/>
              </a:defRPr>
            </a:pPr>
            <a:r>
              <a:t>与 OpenClaw 架构对比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BEAFE"/>
                </a:solidFill>
                <a:latin typeface="微软雅黑"/>
              </a:defRPr>
            </a:pPr>
            <a:r>
              <a:t>Hermes Agent (Python) vs OpenClaw (TypeScript)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25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14 / 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114800"/>
                <a:gridCol w="5303520"/>
              </a:tblGrid>
              <a:tr h="35922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1F5F9"/>
                          </a:solidFill>
                          <a:latin typeface="微软雅黑"/>
                        </a:defRPr>
                      </a:pPr>
                      <a:r>
                        <a:t>维度</a:t>
                      </a:r>
                    </a:p>
                  </a:txBody>
                  <a:tcPr anchor="ctr" marL="76200" marR="76200" marT="50800" marB="5080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1F5F9"/>
                          </a:solidFill>
                          <a:latin typeface="微软雅黑"/>
                        </a:defRPr>
                      </a:pPr>
                      <a:r>
                        <a:t>OpenClaw</a:t>
                      </a:r>
                    </a:p>
                  </a:txBody>
                  <a:tcPr anchor="ctr" marL="76200" marR="76200" marT="50800" marB="5080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1F5F9"/>
                          </a:solidFill>
                          <a:latin typeface="微软雅黑"/>
                        </a:defRPr>
                      </a:pPr>
                      <a:r>
                        <a:t>Hermes Agent</a:t>
                      </a:r>
                    </a:p>
                  </a:txBody>
                  <a:tcPr anchor="ctr" marL="76200" marR="76200" marT="50800" marB="50800">
                    <a:solidFill>
                      <a:srgbClr val="3B82F6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语言</a:t>
                      </a:r>
                    </a:p>
                  </a:txBody>
                  <a:tcPr anchor="ctr" marL="76200" marR="76200" marT="50800" marB="508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TypeScript / Node.js</a:t>
                      </a:r>
                    </a:p>
                  </a:txBody>
                  <a:tcPr anchor="ctr" marL="76200" marR="76200" marT="50800" marB="508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Python</a:t>
                      </a:r>
                    </a:p>
                  </a:txBody>
                  <a:tcPr anchor="ctr" marL="76200" marR="76200" marT="50800" marB="50800">
                    <a:solidFill>
                      <a:srgbClr val="1E293B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定位</a:t>
                      </a:r>
                    </a:p>
                  </a:txBody>
                  <a:tcPr anchor="ctr" marL="76200" marR="76200" marT="50800" marB="50800">
                    <a:solidFill>
                      <a:srgbClr val="2733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多通道 AI 网关</a:t>
                      </a:r>
                    </a:p>
                  </a:txBody>
                  <a:tcPr anchor="ctr" marL="76200" marR="76200" marT="50800" marB="50800">
                    <a:solidFill>
                      <a:srgbClr val="2733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自我改进 AI Agent</a:t>
                      </a:r>
                    </a:p>
                  </a:txBody>
                  <a:tcPr anchor="ctr" marL="76200" marR="76200" marT="50800" marB="50800">
                    <a:solidFill>
                      <a:srgbClr val="27334D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核心循环</a:t>
                      </a:r>
                    </a:p>
                  </a:txBody>
                  <a:tcPr anchor="ctr" marL="76200" marR="76200" marT="50800" marB="508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Gateway → Agent → Channel</a:t>
                      </a:r>
                    </a:p>
                  </a:txBody>
                  <a:tcPr anchor="ctr" marL="76200" marR="76200" marT="50800" marB="508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CLI/Gateway → AIAgent → LLM</a:t>
                      </a:r>
                    </a:p>
                  </a:txBody>
                  <a:tcPr anchor="ctr" marL="76200" marR="76200" marT="50800" marB="50800">
                    <a:solidFill>
                      <a:srgbClr val="1E293B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工具系统</a:t>
                      </a:r>
                    </a:p>
                  </a:txBody>
                  <a:tcPr anchor="ctr" marL="76200" marR="76200" marT="50800" marB="50800">
                    <a:solidFill>
                      <a:srgbClr val="2733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内置 + MCP</a:t>
                      </a:r>
                    </a:p>
                  </a:txBody>
                  <a:tcPr anchor="ctr" marL="76200" marR="76200" marT="50800" marB="50800">
                    <a:solidFill>
                      <a:srgbClr val="2733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内置 Registry + MCP + Skills</a:t>
                      </a:r>
                    </a:p>
                  </a:txBody>
                  <a:tcPr anchor="ctr" marL="76200" marR="76200" marT="50800" marB="50800">
                    <a:solidFill>
                      <a:srgbClr val="27334D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记忆</a:t>
                      </a:r>
                    </a:p>
                  </a:txBody>
                  <a:tcPr anchor="ctr" marL="76200" marR="76200" marT="50800" marB="508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MEMORY.md + 外部 SDK</a:t>
                      </a:r>
                    </a:p>
                  </a:txBody>
                  <a:tcPr anchor="ctr" marL="76200" marR="76200" marT="50800" marB="508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MemoryManager + 8 种插件后端 + FTS5</a:t>
                      </a:r>
                    </a:p>
                  </a:txBody>
                  <a:tcPr anchor="ctr" marL="76200" marR="76200" marT="50800" marB="50800">
                    <a:solidFill>
                      <a:srgbClr val="1E293B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平台数</a:t>
                      </a:r>
                    </a:p>
                  </a:txBody>
                  <a:tcPr anchor="ctr" marL="76200" marR="76200" marT="50800" marB="50800">
                    <a:solidFill>
                      <a:srgbClr val="2733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30+</a:t>
                      </a:r>
                    </a:p>
                  </a:txBody>
                  <a:tcPr anchor="ctr" marL="76200" marR="76200" marT="50800" marB="50800">
                    <a:solidFill>
                      <a:srgbClr val="2733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20+</a:t>
                      </a:r>
                    </a:p>
                  </a:txBody>
                  <a:tcPr anchor="ctr" marL="76200" marR="76200" marT="50800" marB="50800">
                    <a:solidFill>
                      <a:srgbClr val="27334D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模型</a:t>
                      </a:r>
                    </a:p>
                  </a:txBody>
                  <a:tcPr anchor="ctr" marL="76200" marR="76200" marT="50800" marB="508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20+ Provider</a:t>
                      </a:r>
                    </a:p>
                  </a:txBody>
                  <a:tcPr anchor="ctr" marL="76200" marR="76200" marT="50800" marB="508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OpenRouter 200+ / 直连</a:t>
                      </a:r>
                    </a:p>
                  </a:txBody>
                  <a:tcPr anchor="ctr" marL="76200" marR="76200" marT="50800" marB="50800">
                    <a:solidFill>
                      <a:srgbClr val="1E293B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学习闭环</a:t>
                      </a:r>
                    </a:p>
                  </a:txBody>
                  <a:tcPr anchor="ctr" marL="76200" marR="76200" marT="50800" marB="50800">
                    <a:solidFill>
                      <a:srgbClr val="2733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无</a:t>
                      </a:r>
                    </a:p>
                  </a:txBody>
                  <a:tcPr anchor="ctr" marL="76200" marR="76200" marT="50800" marB="50800">
                    <a:solidFill>
                      <a:srgbClr val="2733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Skill 自动创建 + 自改进 + 搜索</a:t>
                      </a:r>
                    </a:p>
                  </a:txBody>
                  <a:tcPr anchor="ctr" marL="76200" marR="76200" marT="50800" marB="50800">
                    <a:solidFill>
                      <a:srgbClr val="27334D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RL 训练</a:t>
                      </a:r>
                    </a:p>
                  </a:txBody>
                  <a:tcPr anchor="ctr" marL="76200" marR="76200" marT="50800" marB="508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无</a:t>
                      </a:r>
                    </a:p>
                  </a:txBody>
                  <a:tcPr anchor="ctr" marL="76200" marR="76200" marT="50800" marB="508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内置 Atropos 环境</a:t>
                      </a:r>
                    </a:p>
                  </a:txBody>
                  <a:tcPr anchor="ctr" marL="76200" marR="76200" marT="50800" marB="50800">
                    <a:solidFill>
                      <a:srgbClr val="1E293B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子 Agent</a:t>
                      </a:r>
                    </a:p>
                  </a:txBody>
                  <a:tcPr anchor="ctr" marL="76200" marR="76200" marT="50800" marB="50800">
                    <a:solidFill>
                      <a:srgbClr val="2733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sessions_spawn</a:t>
                      </a:r>
                    </a:p>
                  </a:txBody>
                  <a:tcPr anchor="ctr" marL="76200" marR="76200" marT="50800" marB="50800">
                    <a:solidFill>
                      <a:srgbClr val="2733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delegate_tool (并行)</a:t>
                      </a:r>
                    </a:p>
                  </a:txBody>
                  <a:tcPr anchor="ctr" marL="76200" marR="76200" marT="50800" marB="50800">
                    <a:solidFill>
                      <a:srgbClr val="27334D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MCP</a:t>
                      </a:r>
                    </a:p>
                  </a:txBody>
                  <a:tcPr anchor="ctr" marL="76200" marR="76200" marT="50800" marB="508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✅</a:t>
                      </a:r>
                    </a:p>
                  </a:txBody>
                  <a:tcPr anchor="ctr" marL="76200" marR="76200" marT="50800" marB="508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✅</a:t>
                      </a:r>
                    </a:p>
                  </a:txBody>
                  <a:tcPr anchor="ctr" marL="76200" marR="76200" marT="50800" marB="50800">
                    <a:solidFill>
                      <a:srgbClr val="1E293B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飞书</a:t>
                      </a:r>
                    </a:p>
                  </a:txBody>
                  <a:tcPr anchor="ctr" marL="76200" marR="76200" marT="50800" marB="50800">
                    <a:solidFill>
                      <a:srgbClr val="2733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一等公民</a:t>
                      </a:r>
                    </a:p>
                  </a:txBody>
                  <a:tcPr anchor="ctr" marL="76200" marR="76200" marT="50800" marB="50800">
                    <a:solidFill>
                      <a:srgbClr val="2733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平台适配器 (3,950 行)</a:t>
                      </a:r>
                    </a:p>
                  </a:txBody>
                  <a:tcPr anchor="ctr" marL="76200" marR="76200" marT="50800" marB="50800">
                    <a:solidFill>
                      <a:srgbClr val="27334D"/>
                    </a:solidFill>
                  </a:tcPr>
                </a:tc>
              </a:tr>
              <a:tr h="3592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代码量</a:t>
                      </a:r>
                    </a:p>
                  </a:txBody>
                  <a:tcPr anchor="ctr" marL="76200" marR="76200" marT="50800" marB="508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~613K 行 TS</a:t>
                      </a:r>
                    </a:p>
                  </a:txBody>
                  <a:tcPr anchor="ctr" marL="76200" marR="76200" marT="50800" marB="5080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  <a:latin typeface="微软雅黑"/>
                        </a:defRPr>
                      </a:pPr>
                      <a:r>
                        <a:t>~389K 行 Python</a:t>
                      </a:r>
                    </a:p>
                  </a:txBody>
                  <a:tcPr anchor="ctr" marL="76200" marR="76200" marT="50800" marB="50800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B82F6"/>
                </a:solidFill>
                <a:latin typeface="微软雅黑"/>
              </a:defRPr>
            </a:pPr>
            <a:r>
              <a:t>关键设计哲学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411480" cy="4114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4904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1F5F9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463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微软雅黑"/>
              </a:defRPr>
            </a:pPr>
            <a:r>
              <a:t>单文件巨石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783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/>
              </a:defRPr>
            </a:pPr>
            <a:r>
              <a:t>run_agent.py 10K+ 行承载完整 Agent 主循环 — Python 风格的「一个文件搞定」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240280"/>
            <a:ext cx="411480" cy="4114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2677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1F5F9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240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微软雅黑"/>
              </a:defRPr>
            </a:pPr>
            <a:r>
              <a:t>注册模式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560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/>
              </a:defRPr>
            </a:pPr>
            <a:r>
              <a:t>工具通过 registry.register() 在 import 时自注册，零配置发现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017520"/>
            <a:ext cx="411480" cy="4114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04495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1F5F9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微软雅黑"/>
              </a:defRPr>
            </a:pPr>
            <a:r>
              <a:t>插件化扩展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337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/>
              </a:defRPr>
            </a:pPr>
            <a:r>
              <a:t>记忆、上下文引擎均可通过插件替换，放文件即生效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794760"/>
            <a:ext cx="411480" cy="411480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82219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1F5F9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794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472B6"/>
                </a:solidFill>
                <a:latin typeface="微软雅黑"/>
              </a:defRPr>
            </a:pPr>
            <a:r>
              <a:t>Skill 即程序记忆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114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/>
              </a:defRPr>
            </a:pPr>
            <a:r>
              <a:t>区别于声明式记忆 (MEMORY.md)，Skill 是过程性知识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572000"/>
            <a:ext cx="411480" cy="411480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59943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1F5F9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D3EE"/>
                </a:solidFill>
                <a:latin typeface="微软雅黑"/>
              </a:defRPr>
            </a:pPr>
            <a:r>
              <a:t>Serverless 友好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892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/>
              </a:defRPr>
            </a:pPr>
            <a:r>
              <a:t>Modal/Daytona 后端支持空闲休眠、按需唤醒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5349240"/>
            <a:ext cx="411480" cy="4114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53766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1F5F9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5349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微软雅黑"/>
              </a:defRPr>
            </a:pPr>
            <a:r>
              <a:t>安全纵深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669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/>
              </a:defRPr>
            </a:pPr>
            <a:r>
              <a:t>Prompt 注入扫描 → 命令审批 → 沙箱隔离 → 路径安全检查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6217920"/>
            <a:ext cx="7315200" cy="127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6309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/>
              </a:defRPr>
            </a:pPr>
            <a:r>
              <a:t>Hermes Agent — 让 AI Agent 从经验中学习，自我改进  |  github.com/NousResearch/hermes-agent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