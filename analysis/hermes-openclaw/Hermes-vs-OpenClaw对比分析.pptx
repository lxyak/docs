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架构对比分析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BBD5FF"/>
                </a:solidFill>
                <a:latin typeface="Microsoft YaHei"/>
              </a:defRPr>
            </a:pPr>
            <a:r>
              <a:t>Architecture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0"/>
            <a:ext cx="1463040" cy="457200"/>
          </a:xfrm>
          <a:prstGeom prst="round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Hermes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320040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200400"/>
            <a:ext cx="1188720" cy="457200"/>
          </a:xfrm>
          <a:prstGeom prst="roundRect">
            <a:avLst/>
          </a:prstGeom>
          <a:solidFill>
            <a:srgbClr val="0E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OpenClaw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B2C"/>
                </a:solidFill>
                <a:latin typeface="Microsoft YaHei"/>
              </a:defRPr>
            </a:pPr>
            <a:r>
              <a:t>自我进化的 AI Agent 平台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4A5568"/>
                </a:solidFill>
                <a:latin typeface="Microsoft YaHei"/>
              </a:defRPr>
            </a:pPr>
            <a:r>
              <a:t>vs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0EA56B"/>
                </a:solidFill>
                <a:latin typeface="Microsoft YaHei"/>
              </a:defRPr>
            </a:pPr>
            <a:r>
              <a:t>多渠道 AI 网关 / Agent 平台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对比版本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Hermes Agent v0.9.0 / OpenClaw v2026.4.11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分析日期：2026-04-14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3200400" cy="731520"/>
          </a:xfrm>
          <a:prstGeom prst="roundRect">
            <a:avLst/>
          </a:prstGeom>
          <a:solidFill>
            <a:srgbClr val="144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"全能 Agent"  vs  "万能网关"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分析维度总览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457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项目定位与核心理念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457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技术栈与工程规模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457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整体架构对比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79"/>
            <a:ext cx="457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832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Agent 核心引擎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457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23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消息渠道与多平台适配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63440"/>
            <a:ext cx="457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工具系统与技能扩展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03519"/>
            <a:ext cx="457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3035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内存与上下文管理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463040"/>
            <a:ext cx="457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安全策略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2103120"/>
            <a:ext cx="457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插件与扩展生态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2743200"/>
            <a:ext cx="457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部署与运维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3383279"/>
            <a:ext cx="457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3832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AI 模型接入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4023360"/>
            <a:ext cx="457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023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多 Agent 配置与多通道互通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4663440"/>
            <a:ext cx="457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663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总结与适用场景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01 项目定位与核心理念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定位决定架构走向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840480" cy="3200400"/>
          </a:xfrm>
          <a:prstGeom prst="round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E86B2C"/>
                </a:solidFill>
                <a:latin typeface="Microsoft YaHei"/>
              </a:defRPr>
            </a:pPr>
            <a:r>
              <a:t>Hermes Agent</a:t>
            </a:r>
          </a:p>
          <a:p>
            <a:pPr algn="l">
              <a:spcBef>
                <a:spcPts val="400"/>
              </a:spcBef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自我进化的 AI Agent 平台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核心理念：闭环学习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  Agent 从经验中创建技能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  使用中优化技能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  搜索历史对话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技术栈：Python 3.11+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许可证：MIT</a:t>
            </a:r>
          </a:p>
          <a:p>
            <a:pPr algn="l">
              <a:spcBef>
                <a:spcPts val="400"/>
              </a:spcBef>
              <a:defRPr sz="1200" b="1">
                <a:solidFill>
                  <a:srgbClr val="E86B2C"/>
                </a:solidFill>
                <a:latin typeface="Microsoft YaHei"/>
              </a:defRPr>
            </a:pPr>
            <a:r>
              <a:t>• "一个会学习的 Agent"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3840480" cy="3200400"/>
          </a:xfrm>
          <a:prstGeom prst="roundRect">
            <a:avLst/>
          </a:prstGeom>
          <a:solidFill>
            <a:srgbClr val="EE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0EA56B"/>
                </a:solidFill>
                <a:latin typeface="Microsoft YaHei"/>
              </a:defRPr>
            </a:pPr>
            <a:r>
              <a:t>OpenClaw</a:t>
            </a:r>
          </a:p>
          <a:p>
            <a:pPr algn="l">
              <a:spcBef>
                <a:spcPts val="400"/>
              </a:spcBef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多渠道 AI 网关 / Agent 平台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核心理念：网关优先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  统一连接消息平台与 AI 模型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  Plugin-first 架构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技术栈：TypeScript (ESM)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运行时：Node.js &gt;= 22.14</a:t>
            </a:r>
          </a:p>
          <a:p>
            <a:pPr algn="l">
              <a:spcBef>
                <a:spcPts val="400"/>
              </a:spcBef>
              <a:defRPr sz="1200" b="1">
                <a:solidFill>
                  <a:srgbClr val="0EA56B"/>
                </a:solidFill>
                <a:latin typeface="Microsoft YaHei"/>
              </a:defRPr>
            </a:pPr>
            <a:r>
              <a:t>• "一个连接一切的 AI 网关"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937760"/>
            <a:ext cx="78638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0F3DA8"/>
                </a:solidFill>
                <a:latin typeface="Microsoft YaHei"/>
              </a:defRPr>
            </a:pPr>
            <a:r>
              <a:t>💡 核心差异：Hermes 差异化在于自我学习能力，OpenClaw 差异化在于连接广度（30+ 消息平台、20+ AI 模型提供商）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02 技术栈与工程规模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Python vs TypeScript，两种工程哲学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Hermes Agent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主语言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Python 3.11+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TypeScript (ESM, strict)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运行时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CPython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Node.js &gt;= 22.14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包管理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pip / uv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pnpm 10.32 (monorepo)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测试框架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Pytest (~3000 测试)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Vitest 4.1.4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核心源码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~389K 行 Python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~657K 行 TypeScript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文件数量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~200+ Python 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~3800 TS 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最大单文件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run_agent.py: 10,865 行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config/schema.ts: 27,117 行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仓库类型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单仓库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Monorepo (pnpm workspace)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943600"/>
            <a:ext cx="78638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0F3DA8"/>
                </a:solidFill>
                <a:latin typeface="Microsoft YaHei"/>
              </a:defRPr>
            </a:pPr>
            <a:r>
              <a:t>💡 Hermes 以 Python 简洁换取更高代码密度，OpenClaw 以 TypeScript 类型安全换取更模块化组织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03 整体架构对比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大内核 vs 小内核，两种架构路径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931920" cy="411480"/>
          </a:xfrm>
          <a:prstGeom prst="round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Hermes Agent — 大内核 + 薄插件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3931920" cy="685800"/>
          </a:xfrm>
          <a:prstGeom prst="round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E86B2C"/>
                </a:solidFill>
                <a:latin typeface="Microsoft YaHei"/>
              </a:defRPr>
            </a:pPr>
            <a:r>
              <a:t>用户界面层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CLI / Gateway / Web / ACP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97480"/>
            <a:ext cx="3931920" cy="685800"/>
          </a:xfrm>
          <a:prstGeom prst="round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E86B2C"/>
                </a:solidFill>
                <a:latin typeface="Microsoft YaHei"/>
              </a:defRPr>
            </a:pPr>
            <a:r>
              <a:t>Agent 核心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run_agent.py (AIAgent 单文件)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3931920" cy="685800"/>
          </a:xfrm>
          <a:prstGeom prst="round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E86B2C"/>
                </a:solidFill>
                <a:latin typeface="Microsoft YaHei"/>
              </a:defRPr>
            </a:pPr>
            <a:r>
              <a:t>工具执行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50+ 工具 (导入自注册) + MCP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51960"/>
            <a:ext cx="3931920" cy="685800"/>
          </a:xfrm>
          <a:prstGeom prst="round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E86B2C"/>
                </a:solidFill>
                <a:latin typeface="Microsoft YaHei"/>
              </a:defRPr>
            </a:pPr>
            <a:r>
              <a:t>基础设施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Config / Cron / Plugins / RL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71600"/>
            <a:ext cx="3931920" cy="411480"/>
          </a:xfrm>
          <a:prstGeom prst="roundRect">
            <a:avLst/>
          </a:prstGeom>
          <a:solidFill>
            <a:srgbClr val="0E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OpenClaw — 小内核 + 厚插件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920240"/>
            <a:ext cx="3931920" cy="685800"/>
          </a:xfrm>
          <a:prstGeom prst="roundRect">
            <a:avLst/>
          </a:prstGeom>
          <a:solidFill>
            <a:srgbClr val="EE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0EA56B"/>
                </a:solidFill>
                <a:latin typeface="Microsoft YaHei"/>
              </a:defRPr>
            </a:pPr>
            <a:r>
              <a:t>渠道插件层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111 扩展目录，25+ 消息平台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697480"/>
            <a:ext cx="3931920" cy="685800"/>
          </a:xfrm>
          <a:prstGeom prst="roundRect">
            <a:avLst/>
          </a:prstGeom>
          <a:solidFill>
            <a:srgbClr val="EE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0EA56B"/>
                </a:solidFill>
                <a:latin typeface="Microsoft YaHei"/>
              </a:defRPr>
            </a:pPr>
            <a:r>
              <a:t>Gateway 控制平面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WebSocket/HTTP，60+ RPC 方法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474720"/>
            <a:ext cx="3931920" cy="685800"/>
          </a:xfrm>
          <a:prstGeom prst="roundRect">
            <a:avLst/>
          </a:prstGeom>
          <a:solidFill>
            <a:srgbClr val="EE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0EA56B"/>
                </a:solidFill>
                <a:latin typeface="Microsoft YaHei"/>
              </a:defRPr>
            </a:pPr>
            <a:r>
              <a:t>Agent 引擎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pi-embedded-runner (内嵌 LLM)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251960"/>
            <a:ext cx="3931920" cy="685800"/>
          </a:xfrm>
          <a:prstGeom prst="roundRect">
            <a:avLst/>
          </a:prstGeom>
          <a:solidFill>
            <a:srgbClr val="EE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0EA56B"/>
                </a:solidFill>
                <a:latin typeface="Microsoft YaHei"/>
              </a:defRPr>
            </a:pPr>
            <a:r>
              <a:t>扩展系统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Extensions / Plugin SDK / 53 内置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5029200"/>
            <a:ext cx="3931920" cy="685800"/>
          </a:xfrm>
          <a:prstGeom prst="roundRect">
            <a:avLst/>
          </a:prstGeom>
          <a:solidFill>
            <a:srgbClr val="EE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0EA56B"/>
                </a:solidFill>
                <a:latin typeface="Microsoft YaHei"/>
              </a:defRPr>
            </a:pPr>
            <a:r>
              <a:t>基础设施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Config (Zod) / Sessions / Daemon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关键差异：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Hermes 同步循环（简单直接）vs OpenClaw 异步流（高并发天然优势）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04 Agent 核心引擎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Agent 循环的设计哲学差异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Hermes Agent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核心文件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run_agent.py (10,865 行)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run.ts + attempt.ts (4,200+ 行)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Agent 循环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同步 while 循环 (~2300 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异步流处理，分阶段组织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上下文压缩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保护前3 + 后20 + 中间摘要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Session 管理 + 压缩支持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智能路由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关键词复杂度 → 廉/强模型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模型回退链 (fallback)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System Prompt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9 阶段管道组装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Agent 配置系统提示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子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Delegate: 最大深度2, 并发3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sub-agent: 异步, 并发5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流式输出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支持 (streaming tool)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支持 (WebSocket 流式)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工具解析器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11 个模型专用解析器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标准 OpenAI 格式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943600"/>
            <a:ext cx="78638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0F3DA8"/>
                </a:solidFill>
                <a:latin typeface="Microsoft YaHei"/>
              </a:defRPr>
            </a:pPr>
            <a:r>
              <a:t>💡 Hermes 偏'大泥球'（集中但可调试），OpenClaw 偏分层模块化（清晰但需跨文件追踪）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05 消息渠道与多平台适配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中国平台 vs 国际平台的覆盖差异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315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  <a:gridCol w="283464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Hermes Agent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平台数量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17+ 适配器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25+ 渠道插件 (111 扩展)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中国平台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飞书、企微、微信、钉钉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飞书、钉钉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国际 IM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TG/Discord/Slack/WA/Signal...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TG/Discord/Slack/WA/Signal/IRC/Line...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特殊渠道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Email/SMS/HomeAssistant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MS Teams/Web API/Companion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移动端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无原生 App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Android / iOS / macOS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适配器架构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BasePlatformAdapter (82K)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Channel Plugin SDK (100+ 导出)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加载方式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asyncio.gather 并行启动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Plugin Loader 发现加载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943600"/>
            <a:ext cx="78638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0F3DA8"/>
                </a:solidFill>
                <a:latin typeface="Microsoft YaHei"/>
              </a:defRPr>
            </a:pPr>
            <a:r>
              <a:t>💡 Hermes 中国平台覆盖更强（微信、企微、钉钉、飞书），OpenClaw 国际平台广度领先 + 有原生移动端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06 工具系统与技能扩展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工具注册、终端执行、技能创建的差异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Hermes Agent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注册方式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导入时自注册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Plugin SDK 声明式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工具数量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50+ 工具文件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内置 + 扩展 + MCP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终端执行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6 种后端 (含 Docker/SSH/Modal)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内置 exec + Docker sandbox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浏览器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CamoFox 反指纹浏览器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Playwright 自动化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MCP 角色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客户端 (连接外部)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服务器 (暴露自身)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技能格式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SKILL.md (YAML+MD)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SKILL.md (description/when)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内置技能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27 个类别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53 个内置技能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自动创建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Agent 自动创建技能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❌ 无自动创建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技能市场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Skills Hub + 安全扫描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无独立市场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6126480"/>
            <a:ext cx="78638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0F3DA8"/>
                </a:solidFill>
                <a:latin typeface="Microsoft YaHei"/>
              </a:defRPr>
            </a:pPr>
            <a:r>
              <a:t>💡 Hermes 技能系统是闭环的（使用+创建+优化），OpenClaw 更偏声明式触发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07 内存与上下文管理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记忆系统的深度与广度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Hermes Agent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内置记忆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MEMORY.md + USER.md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Memory Host SDK (向量+SQLite)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搜索能力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FTS5 全文搜索历史会话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SQLite-vec 向量搜索 + LanceDB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外部后端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8 个 (Mem0/Supermemory...)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无独立外部后端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上下文压缩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75% token 阈值触发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Session 上下文压缩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上下文引擎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可插拔 (LCM DAG 等)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内置 Context Engine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572000"/>
            <a:ext cx="78638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0F3DA8"/>
                </a:solidFill>
                <a:latin typeface="Microsoft YaHei"/>
              </a:defRPr>
            </a:pPr>
            <a:r>
              <a:t>💡 Hermes 在记忆系统投入更深（8 种外部后端、FTS5 全文搜索），OpenClaw 在向量检索场景可能更优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08 安全策略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纵深防御的不同侧重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安全层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Hermes Agent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输入防护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10+ 正则检测注入 + Unicode 检测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上下文可见性控制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执行防护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命令审批 + 6 种沙箱后端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4 层策略管道 + 沙箱隔离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沙箱后端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Docker/Modal/Daytona/SSH/Singularity/local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Docker / SSH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凭证管理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加密存储 + 多密钥轮换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加密 + 系统密钥链集成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技能安全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安装前扫描 (恶意/外泄/危险)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Skill Scanner 静态分析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HTTP 拒绝列表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默认阻止 exec/spawn/shell 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URL 安全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恶意域名 + 私有 IP (SSRF)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无特殊处理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安全审计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无内置命令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openclaw doctor 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943600"/>
            <a:ext cx="78638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0F3DA8"/>
                </a:solidFill>
                <a:latin typeface="Microsoft YaHei"/>
              </a:defRPr>
            </a:pPr>
            <a:r>
              <a:t>💡 平手：Hermes 重输入侧防护和执行隔离，OpenClaw 重工具权限控制和运维安全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09 插件与扩展生态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松散灵活 vs 标准化成熟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315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  <a:gridCol w="2834640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Hermes Agent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插件类型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memory/context_engine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Channel/Provider/Capability/Tool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插件发现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目录扫描 plugins/&lt;type&gt;/&lt;name&gt;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Plugin Loader (2,212 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插件 SDK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抽象基类 (ABC)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@openclaw/plugin-sdk (100+ 导出)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扩展数量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~10 个插件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111 个扩展目录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技能数量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27 类内置 + 大量可选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53 个内置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插件市场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Skills Hub (agentskills.io)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943600"/>
            <a:ext cx="78638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0F3DA8"/>
                </a:solidFill>
                <a:latin typeface="Microsoft YaHei"/>
              </a:defRPr>
            </a:pPr>
            <a:r>
              <a:t>💡 OpenClaw 插件生态更成熟标准化（Plugin SDK + 完整生命周期），Hermes 更灵活但松散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10 部署与运维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个人开发者场景 vs 生产级运维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315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  <a:gridCol w="283464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Hermes Agent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部署模式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CLI / Docker / ACP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CLI / Daemon / Docker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Docker Compose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无官方 compose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有 (Gateway + CLI, 健康检查)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守护进程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systemd / launchd / schtasks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健康检查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无内置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/healthz, /readyz, /metrics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监控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无内置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Prometheus metrics 端点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配套 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Android / iOS / macOS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配置验证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Pydantic + YAML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Zod 4.x + JSON Schema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943600"/>
            <a:ext cx="78638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0F3DA8"/>
                </a:solidFill>
                <a:latin typeface="Microsoft YaHei"/>
              </a:defRPr>
            </a:pPr>
            <a:r>
              <a:t>💡 OpenClaw 运维明显更成熟（Daemon + Prometheus + Docker Compose + 多平台 App），Hermes 偏研究场景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11 AI 模型接入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广度与深度的不同策略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315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  <a:gridCol w="2834640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Hermes Agent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提供商数量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10+ (含 OpenRouter 200+)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~30 个 provider 插件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模型路由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智能路由 (复杂度检测)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模型回退链 (fallback)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认证方式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API Key + OAuth + 多密钥轮换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API Key + OAuth + Auth Profile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中国模型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GLM / Kimi / MiniMax / MiMo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DeepSeek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本地模型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vLLM / SGLang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Ollama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特殊能力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11 种模型专用解析器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标准 OpenAI 格式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943600"/>
            <a:ext cx="78638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0F3DA8"/>
                </a:solidFill>
                <a:latin typeface="Microsoft YaHei"/>
              </a:defRPr>
            </a:pPr>
            <a:r>
              <a:t>💡 Hermes 模型接入更广（OpenRouter 200+ 模型）且中国模型支持更深，OpenClaw provider 插件更多但各自维护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12 多 Agent 配置与多通道互通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架构差异最大的维度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Hermes Agent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配置模式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多 Profile (多进程)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单进程多 Agent (配置数组)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实例隔离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独立进程/数据库/凭证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共享 Gateway，独立工作空间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路由粒度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平台级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9 层匹配 (用户/群组/角色级)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跨 Agent 委派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仅自身实例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可指定不同 AgentId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运行时控制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无主动控制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steer / kill / list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跨通道 Session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不支持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identityLinks 统一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子 Agent 并发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3 (ThreadPool, 受 GIL)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5 (异步并发)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混合专家推理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Mixture-of-Agents 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 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943600"/>
            <a:ext cx="78638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0F3DA8"/>
                </a:solidFill>
                <a:latin typeface="Microsoft YaHei"/>
              </a:defRPr>
            </a:pPr>
            <a:r>
              <a:t>💡 多 Agent 多通道维度上 OpenClaw 明显领先，Hermes 优势在实例隔离彻底 + Mixture-of-Agents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13 核心差异矩阵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各维度能力评分一览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6766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  <a:gridCol w="1463040"/>
              </a:tblGrid>
              <a:tr h="38686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Hermes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优势方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自我学习与进化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86B2C"/>
                          </a:solidFill>
                          <a:latin typeface="Microsoft YaHei"/>
                        </a:defRPr>
                      </a:pPr>
                      <a:r>
                        <a:t>Hermes</a:t>
                      </a: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中国消息平台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86B2C"/>
                          </a:solidFill>
                          <a:latin typeface="Microsoft YaHei"/>
                        </a:defRPr>
                      </a:pPr>
                      <a:r>
                        <a:t>Hermes</a:t>
                      </a: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国际消息平台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EA56B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E5FAF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工具系统深度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86B2C"/>
                          </a:solidFill>
                          <a:latin typeface="Microsoft YaHei"/>
                        </a:defRPr>
                      </a:pPr>
                      <a:r>
                        <a:t>Hermes</a:t>
                      </a: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插件生态标准化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EA56B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E5FAF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安全纵深防御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平手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记忆系统深度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86B2C"/>
                          </a:solidFill>
                          <a:latin typeface="Microsoft YaHei"/>
                        </a:defRPr>
                      </a:pPr>
                      <a:r>
                        <a:t>Hermes</a:t>
                      </a: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运维成熟度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EA56B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E5FAF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AI 模型兼容性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86B2C"/>
                          </a:solidFill>
                          <a:latin typeface="Microsoft YaHei"/>
                        </a:defRPr>
                      </a:pPr>
                      <a:r>
                        <a:t>Hermes</a:t>
                      </a: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多 Agent 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EA56B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E5FAF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配套客户端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★☆☆☆☆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EA56B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E5FAF0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RL 训练环境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☆☆☆☆☆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86B2C"/>
                          </a:solidFill>
                          <a:latin typeface="Microsoft YaHei"/>
                        </a:defRPr>
                      </a:pPr>
                      <a:r>
                        <a:t>Hermes</a:t>
                      </a: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13 适用场景推荐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选择的关键在于核心需求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86384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931920" cy="4114800"/>
          </a:xfrm>
          <a:prstGeom prst="round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E86B2C"/>
                </a:solidFill>
                <a:latin typeface="Microsoft YaHei"/>
              </a:defRPr>
            </a:pPr>
            <a:r>
              <a:t>选择 Hermes Agent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•  Agent 具备自我学习能力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•  深度接入中国消息平台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•  兼容大量非标准 AI 模型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•  需要 RL 训练环境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•  个人研究/实验，偏好 Python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•  ACP 协议集成（IDE 插件）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3931920" cy="4114800"/>
          </a:xfrm>
          <a:prstGeom prst="roundRect">
            <a:avLst/>
          </a:prstGeom>
          <a:solidFill>
            <a:srgbClr val="EE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EA56B"/>
                </a:solidFill>
                <a:latin typeface="Microsoft YaHei"/>
              </a:defRPr>
            </a:pPr>
            <a:r>
              <a:t>选择 OpenClaw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•  接入大量国际消息平台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•  标准化插件生态需求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•  生产级运维能力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•  macOS/iOS/Android 配套客户端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•  团队协作，偏好 TypeScript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•  内置安全审计命令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760720"/>
            <a:ext cx="8229600" cy="6400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"全能 Agent" (Hermes) vs "万能网关" (OpenClaw) — 取决于核心需求是 "Agent 够强" 还是 "连接够多"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THANKS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D5FF"/>
                </a:solidFill>
                <a:latin typeface="Microsoft YaHei"/>
              </a:defRPr>
            </a:pPr>
            <a:r>
              <a:t>Hermes Agent vs OpenClaw 架构对比分析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BBFF"/>
                </a:solidFill>
                <a:latin typeface="Microsoft YaHei"/>
              </a:defRPr>
            </a:pPr>
            <a:r>
              <a:t>分析日期：2026-04-14  |  版本：Hermes v0.9.0 / OpenClaw v2026.4.11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